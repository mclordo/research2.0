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62" r:id="rId4"/>
    <p:sldId id="259" r:id="rId5"/>
    <p:sldId id="264" r:id="rId6"/>
    <p:sldId id="263" r:id="rId7"/>
    <p:sldId id="258" r:id="rId8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6" autoAdjust="0"/>
    <p:restoredTop sz="94660"/>
  </p:normalViewPr>
  <p:slideViewPr>
    <p:cSldViewPr snapToGrid="0">
      <p:cViewPr varScale="1">
        <p:scale>
          <a:sx n="67" d="100"/>
          <a:sy n="67" d="100"/>
        </p:scale>
        <p:origin x="568" y="4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7F88FAE-25FD-9A2F-FDA3-3F66E241BC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D6101050-111D-9EF5-6345-37278DE819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6B21888-197F-5FE0-A437-BAA886FB29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1F1A1-E683-4AE0-BED5-F2FD613BCC3A}" type="datetimeFigureOut">
              <a:rPr lang="de-DE" smtClean="0"/>
              <a:t>14.12.2022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FA475FA-51AC-188D-D1DF-BC5C0D6424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682C95F-32C8-8F1D-7791-80F239B29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E90DD-B764-4335-8C08-3994C30218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386766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FC30E08-FC7C-A0FB-8227-C3364F4533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21C22FA-9569-022A-5116-FF64900C33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8FACDCA-FEC2-541E-E5A3-CD9FDD9CAF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1F1A1-E683-4AE0-BED5-F2FD613BCC3A}" type="datetimeFigureOut">
              <a:rPr lang="de-DE" smtClean="0"/>
              <a:t>14.12.2022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8D26C97-D8E7-9AB0-2F46-BD20CAA71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D7CA2DF-D65A-61A8-B375-82C31BFCC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E90DD-B764-4335-8C08-3994C30218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279374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946EB1C-ECBE-6DC5-3D52-3CF0C0D02A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498B53F-46B2-A2A9-AFE0-257442E0B5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824F9BE-1F9F-9493-DEC7-0A2D26412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1F1A1-E683-4AE0-BED5-F2FD613BCC3A}" type="datetimeFigureOut">
              <a:rPr lang="de-DE" smtClean="0"/>
              <a:t>14.12.2022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9D9049C-2331-2BC0-22FF-91DED9EEAB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641DFD2-19C3-843E-34E3-F1909C49C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E90DD-B764-4335-8C08-3994C30218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464538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CA44443-A923-DBB1-1408-A652FBDAA1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14772E6-6E13-E561-EF58-C7C18C00C6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38C53BD-2FB9-972D-9D04-5B315CF3A9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6C72576-AF91-8ABB-0233-9168A1121F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1F1A1-E683-4AE0-BED5-F2FD613BCC3A}" type="datetimeFigureOut">
              <a:rPr lang="de-DE" smtClean="0"/>
              <a:t>14.12.2022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9E2F1CB-5943-982B-D36D-A4BA6F2ADC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7068C72-E0F2-6B69-C189-8119CE069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E90DD-B764-4335-8C08-3994C30218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784436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7A487BF-8C51-537C-8936-E2E7F29DA2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2C064F5-F32A-B1B0-0449-D2B68A2F1E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4B4CE91-ECB7-0726-DB9A-9F390F9A81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48DDEC7C-1C33-462B-A4F9-1A548FF97E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C33CF77E-3AB1-E3CF-79B1-E1CF77C1BB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C387EA39-037B-BB24-9DAB-4934CB9742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1F1A1-E683-4AE0-BED5-F2FD613BCC3A}" type="datetimeFigureOut">
              <a:rPr lang="de-DE" smtClean="0"/>
              <a:t>14.12.2022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E8376A6A-22E1-10DF-4DDC-88E2ABD7FF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4F15F3AC-E465-A50A-F219-AA0CB47E9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E90DD-B764-4335-8C08-3994C30218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041195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C2F36A9-BFE5-27A4-96DE-2BAB910A94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07AD8C0E-9EA7-FA82-A7D1-CCB00E8E00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1F1A1-E683-4AE0-BED5-F2FD613BCC3A}" type="datetimeFigureOut">
              <a:rPr lang="de-DE" smtClean="0"/>
              <a:t>14.12.2022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8C56693-EA35-61FC-D5CB-33FBA780B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90F88D0-EB97-BF1F-BB0A-03A623C2B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E90DD-B764-4335-8C08-3994C30218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855675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1A3A5EE4-AA48-2408-D8F3-85C265BAF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1F1A1-E683-4AE0-BED5-F2FD613BCC3A}" type="datetimeFigureOut">
              <a:rPr lang="de-DE" smtClean="0"/>
              <a:t>14.12.2022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EBD76DD2-C788-6BC8-5885-F9ABAEE61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4159A1B-7C8C-F077-94B6-6FCC25744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E90DD-B764-4335-8C08-3994C30218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145456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27EB11B-986A-B128-5A20-C43C0037E5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A88E5BB-8224-A693-E9B1-FFB290B53F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B07AA37-745B-701C-FB09-5121CED333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6432B1A-A5EC-0249-F32E-2731F15913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1F1A1-E683-4AE0-BED5-F2FD613BCC3A}" type="datetimeFigureOut">
              <a:rPr lang="de-DE" smtClean="0"/>
              <a:t>14.12.2022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68AC52F-3CD8-3A14-E007-B3AFE8AD32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BA5FC27-DE4F-9F4A-62FD-D26028DF1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E90DD-B764-4335-8C08-3994C30218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3465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477299B-234D-44BC-DBBA-D12309479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3D300FC7-2079-F991-EEFF-86EF7B7169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A2ED1AC-DDF1-414B-122D-2FFBD3A504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89A04B4-02BD-55B1-21E2-F6E7EBD15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1F1A1-E683-4AE0-BED5-F2FD613BCC3A}" type="datetimeFigureOut">
              <a:rPr lang="de-DE" smtClean="0"/>
              <a:t>14.12.2022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8846DD1-34C7-EBAB-0B7C-695E0B69E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01E90D7-E646-5DBE-FAE3-6E64C5924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E90DD-B764-4335-8C08-3994C30218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877929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1A5625C-DF05-2FD7-0371-92B8857FE4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7ABB88F1-A6DA-B4BF-5A3B-9E2F65136E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5ED2672-EBA6-473F-9D27-36D985F86B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1F1A1-E683-4AE0-BED5-F2FD613BCC3A}" type="datetimeFigureOut">
              <a:rPr lang="de-DE" smtClean="0"/>
              <a:t>14.12.2022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3FD58A4-66CD-3D05-E905-D1840039C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D855482-8A8E-405F-7DB3-419CA50F9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E90DD-B764-4335-8C08-3994C30218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471623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7061B0F9-62D2-E99B-C8E0-EA535738D9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25334B5E-C661-D80D-F815-17EC572D16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1A18AF6-88F1-D4FA-5CBC-5B90DB03F6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1F1A1-E683-4AE0-BED5-F2FD613BCC3A}" type="datetimeFigureOut">
              <a:rPr lang="de-DE" smtClean="0"/>
              <a:t>14.12.2022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05D5D59-965E-1FD7-161F-4203935E5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291C36F-029B-FC3E-FA29-46A333FB8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E90DD-B764-4335-8C08-3994C30218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964789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7039FBDF-8E86-AED3-3183-EF0A81B024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8457C92-F592-BFEA-FD24-5E1A3556F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DE293E1-9ECC-4325-962E-AFBB96343B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B1F1A1-E683-4AE0-BED5-F2FD613BCC3A}" type="datetimeFigureOut">
              <a:rPr lang="de-DE" smtClean="0"/>
              <a:t>14.12.2022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3BABC50-2E0B-6BE2-9755-C2684FEEC9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19F63A5-4F86-60C4-69CD-BB503D8462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DE90DD-B764-4335-8C08-3994C30218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26319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2487721-8B38-5C01-7014-034977E4A4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07253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de-DE" dirty="0"/>
              <a:t>Ein </a:t>
            </a:r>
            <a:r>
              <a:rPr lang="de-DE" dirty="0" err="1"/>
              <a:t>Machine</a:t>
            </a:r>
            <a:r>
              <a:rPr lang="de-DE" dirty="0"/>
              <a:t> Learning basiertes Bewässerungssystem im geschützten Erdbeer-Anbau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7547A926-9149-A395-6438-A4858C355C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86928"/>
            <a:ext cx="9144000" cy="1655762"/>
          </a:xfrm>
        </p:spPr>
        <p:txBody>
          <a:bodyPr/>
          <a:lstStyle/>
          <a:p>
            <a:endParaRPr lang="de-DE" dirty="0"/>
          </a:p>
          <a:p>
            <a:r>
              <a:rPr lang="de-DE" dirty="0"/>
              <a:t>Nils Böhringer</a:t>
            </a:r>
          </a:p>
        </p:txBody>
      </p:sp>
    </p:spTree>
    <p:extLst>
      <p:ext uri="{BB962C8B-B14F-4D97-AF65-F5344CB8AC3E}">
        <p14:creationId xmlns:p14="http://schemas.microsoft.com/office/powerpoint/2010/main" val="30399247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B7639D-8041-7F3E-427D-AEE0DCBCA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Projektziel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DCD97D1-26C4-72DD-5A3B-944B73DEFA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de-DE" dirty="0"/>
              <a:t>Implementierung eines </a:t>
            </a:r>
            <a:r>
              <a:rPr lang="de-DE" dirty="0" err="1"/>
              <a:t>Machine</a:t>
            </a:r>
            <a:r>
              <a:rPr lang="de-DE" dirty="0"/>
              <a:t> Learning Algorithmus welcher auf Basis des Drain einer Erdbeer-Substartkultur automatisch die Bewässerungszeiten bestimmt</a:t>
            </a:r>
          </a:p>
          <a:p>
            <a:pPr marL="0" indent="0">
              <a:buNone/>
            </a:pPr>
            <a:endParaRPr lang="de-DE" dirty="0"/>
          </a:p>
          <a:p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DE102E8-A847-49D7-4218-745E24100ED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5C802FAD-562E-4BE8-B850-EB01E0F3E0DB}" type="datetime1">
              <a:rPr lang="de-DE" smtClean="0"/>
              <a:t>14.12.2022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3A9927F-DDEC-2D65-F0A3-F80268A37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de-DE" dirty="0"/>
              <a:t>Ein </a:t>
            </a:r>
            <a:r>
              <a:rPr lang="de-DE" dirty="0" err="1"/>
              <a:t>Machine</a:t>
            </a:r>
            <a:r>
              <a:rPr lang="de-DE" dirty="0"/>
              <a:t> Learning basiertes Bewässerungssystem im geschützten Erdbeer-Anbau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C513694-CBF0-9FB7-B0A4-9353C3386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C073FD1-58EC-4DE9-9EA3-1DE3CC454F84}" type="slidenum">
              <a:rPr lang="de-DE" smtClean="0"/>
              <a:t>2</a:t>
            </a:fld>
            <a:endParaRPr lang="de-DE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89BDE27D-7220-0E5E-3B8D-0DA2795992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2529" y="3429000"/>
            <a:ext cx="2976360" cy="2232270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024A3C48-18BE-B349-2A9D-75D7789A92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1521" y="3918891"/>
            <a:ext cx="2377552" cy="125248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3" name="Pfeil: nach rechts 12">
            <a:extLst>
              <a:ext uri="{FF2B5EF4-FFF2-40B4-BE49-F238E27FC236}">
                <a16:creationId xmlns:a16="http://schemas.microsoft.com/office/drawing/2014/main" id="{7B25F19E-927C-DA01-3F1B-1E00DF096B91}"/>
              </a:ext>
            </a:extLst>
          </p:cNvPr>
          <p:cNvSpPr/>
          <p:nvPr/>
        </p:nvSpPr>
        <p:spPr>
          <a:xfrm>
            <a:off x="4506794" y="4475401"/>
            <a:ext cx="347636" cy="14067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Rechteck: abgerundete Ecken 14">
            <a:extLst>
              <a:ext uri="{FF2B5EF4-FFF2-40B4-BE49-F238E27FC236}">
                <a16:creationId xmlns:a16="http://schemas.microsoft.com/office/drawing/2014/main" id="{A074FC76-6784-7D0D-247C-55B14CD2BEC0}"/>
              </a:ext>
            </a:extLst>
          </p:cNvPr>
          <p:cNvSpPr/>
          <p:nvPr/>
        </p:nvSpPr>
        <p:spPr>
          <a:xfrm>
            <a:off x="4952335" y="4100009"/>
            <a:ext cx="1106147" cy="867307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 err="1"/>
              <a:t>LoRa</a:t>
            </a:r>
            <a:r>
              <a:rPr lang="de-DE" dirty="0"/>
              <a:t> Sensor </a:t>
            </a:r>
            <a:r>
              <a:rPr lang="de-DE" dirty="0" err="1"/>
              <a:t>Node</a:t>
            </a:r>
            <a:endParaRPr lang="de-DE" dirty="0"/>
          </a:p>
        </p:txBody>
      </p:sp>
      <p:sp>
        <p:nvSpPr>
          <p:cNvPr id="16" name="Pfeil: nach rechts 15">
            <a:extLst>
              <a:ext uri="{FF2B5EF4-FFF2-40B4-BE49-F238E27FC236}">
                <a16:creationId xmlns:a16="http://schemas.microsoft.com/office/drawing/2014/main" id="{14977348-695B-F84C-C10F-B13DDB4D35D1}"/>
              </a:ext>
            </a:extLst>
          </p:cNvPr>
          <p:cNvSpPr/>
          <p:nvPr/>
        </p:nvSpPr>
        <p:spPr>
          <a:xfrm>
            <a:off x="6156387" y="4474798"/>
            <a:ext cx="347636" cy="14067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Rechteck: abgerundete Ecken 16">
            <a:extLst>
              <a:ext uri="{FF2B5EF4-FFF2-40B4-BE49-F238E27FC236}">
                <a16:creationId xmlns:a16="http://schemas.microsoft.com/office/drawing/2014/main" id="{C63B17CB-A56A-011F-F8C9-73CD2D7ABEA6}"/>
              </a:ext>
            </a:extLst>
          </p:cNvPr>
          <p:cNvSpPr/>
          <p:nvPr/>
        </p:nvSpPr>
        <p:spPr>
          <a:xfrm>
            <a:off x="6601928" y="4111479"/>
            <a:ext cx="1106147" cy="867307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/>
              <a:t>ML </a:t>
            </a:r>
            <a:r>
              <a:rPr lang="de-DE" dirty="0" err="1"/>
              <a:t>Algorit-hmus</a:t>
            </a:r>
            <a:endParaRPr lang="de-DE" dirty="0"/>
          </a:p>
        </p:txBody>
      </p:sp>
      <p:sp>
        <p:nvSpPr>
          <p:cNvPr id="18" name="Pfeil: nach rechts 17">
            <a:extLst>
              <a:ext uri="{FF2B5EF4-FFF2-40B4-BE49-F238E27FC236}">
                <a16:creationId xmlns:a16="http://schemas.microsoft.com/office/drawing/2014/main" id="{31B5C8F8-B7D9-29C1-19F3-D908DD2CF167}"/>
              </a:ext>
            </a:extLst>
          </p:cNvPr>
          <p:cNvSpPr/>
          <p:nvPr/>
        </p:nvSpPr>
        <p:spPr>
          <a:xfrm>
            <a:off x="7805980" y="4480612"/>
            <a:ext cx="347636" cy="14067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508163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B7639D-8041-7F3E-427D-AEE0DCBCA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Gewächshaus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DCD97D1-26C4-72DD-5A3B-944B73DEFA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38517" y="2009775"/>
            <a:ext cx="2415282" cy="416718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de-DE" dirty="0"/>
          </a:p>
          <a:p>
            <a:r>
              <a:rPr lang="de-DE" dirty="0">
                <a:solidFill>
                  <a:srgbClr val="0F1111"/>
                </a:solidFill>
                <a:latin typeface="Amazon Ember"/>
              </a:rPr>
              <a:t>Bewässerung</a:t>
            </a:r>
          </a:p>
          <a:p>
            <a:pPr lvl="1"/>
            <a:r>
              <a:rPr lang="de-DE" dirty="0">
                <a:solidFill>
                  <a:srgbClr val="0F1111"/>
                </a:solidFill>
                <a:latin typeface="Amazon Ember"/>
              </a:rPr>
              <a:t>2x à 3min</a:t>
            </a:r>
          </a:p>
          <a:p>
            <a:endParaRPr lang="de-DE" dirty="0">
              <a:solidFill>
                <a:srgbClr val="0F1111"/>
              </a:solidFill>
              <a:latin typeface="Amazon Ember"/>
            </a:endParaRPr>
          </a:p>
          <a:p>
            <a:r>
              <a:rPr lang="de-DE" dirty="0">
                <a:solidFill>
                  <a:srgbClr val="0F1111"/>
                </a:solidFill>
                <a:latin typeface="Amazon Ember"/>
              </a:rPr>
              <a:t>Licht	</a:t>
            </a:r>
          </a:p>
          <a:p>
            <a:pPr lvl="1"/>
            <a:r>
              <a:rPr lang="de-DE" dirty="0">
                <a:solidFill>
                  <a:srgbClr val="0F1111"/>
                </a:solidFill>
                <a:latin typeface="Amazon Ember"/>
              </a:rPr>
              <a:t>14h</a:t>
            </a:r>
          </a:p>
          <a:p>
            <a:pPr lvl="1"/>
            <a:r>
              <a:rPr lang="de-DE" dirty="0">
                <a:solidFill>
                  <a:srgbClr val="0F1111"/>
                </a:solidFill>
                <a:latin typeface="Amazon Ember"/>
              </a:rPr>
              <a:t>7-21 Uhr</a:t>
            </a:r>
          </a:p>
          <a:p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DE102E8-A847-49D7-4218-745E24100ED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5C802FAD-562E-4BE8-B850-EB01E0F3E0DB}" type="datetime1">
              <a:rPr lang="de-DE" smtClean="0"/>
              <a:t>14.12.2022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3A9927F-DDEC-2D65-F0A3-F80268A37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de-DE" dirty="0"/>
              <a:t>Ein </a:t>
            </a:r>
            <a:r>
              <a:rPr lang="de-DE" dirty="0" err="1"/>
              <a:t>Machine</a:t>
            </a:r>
            <a:r>
              <a:rPr lang="de-DE" dirty="0"/>
              <a:t> Learning basiertes Bewässerungssystem im geschützten Erdbeer-Anbau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C513694-CBF0-9FB7-B0A4-9353C3386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C073FD1-58EC-4DE9-9EA3-1DE3CC454F84}" type="slidenum">
              <a:rPr lang="de-DE" smtClean="0"/>
              <a:t>3</a:t>
            </a:fld>
            <a:endParaRPr lang="de-DE"/>
          </a:p>
        </p:txBody>
      </p:sp>
      <p:pic>
        <p:nvPicPr>
          <p:cNvPr id="9" name="Grafik 8" descr="Ein Bild, das drinnen, Pink, lila enthält.&#10;&#10;Automatisch generierte Beschreibung">
            <a:extLst>
              <a:ext uri="{FF2B5EF4-FFF2-40B4-BE49-F238E27FC236}">
                <a16:creationId xmlns:a16="http://schemas.microsoft.com/office/drawing/2014/main" id="{63FE57DC-308D-6692-1BE1-115ED78185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9" y="1690688"/>
            <a:ext cx="3125391" cy="4167188"/>
          </a:xfrm>
          <a:prstGeom prst="rect">
            <a:avLst/>
          </a:prstGeom>
        </p:spPr>
      </p:pic>
      <p:pic>
        <p:nvPicPr>
          <p:cNvPr id="11" name="Grafik 10" descr="Ein Bild, das drinnen, lila, Pink, ausgestaltet enthält.&#10;&#10;Automatisch generierte Beschreibung">
            <a:extLst>
              <a:ext uri="{FF2B5EF4-FFF2-40B4-BE49-F238E27FC236}">
                <a16:creationId xmlns:a16="http://schemas.microsoft.com/office/drawing/2014/main" id="{05F3E1C5-A163-7C1B-BAEB-C2286A21EF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6577" y="2103436"/>
            <a:ext cx="4304023" cy="3228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07002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B7639D-8041-7F3E-427D-AEE0DCBCA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Lichter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DCD97D1-26C4-72DD-5A3B-944B73DEFA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0830" y="1511040"/>
            <a:ext cx="5699539" cy="416718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de-DE" dirty="0"/>
          </a:p>
          <a:p>
            <a:r>
              <a:rPr lang="de-DE" dirty="0">
                <a:solidFill>
                  <a:srgbClr val="0F1111"/>
                </a:solidFill>
                <a:latin typeface="Amazon Ember"/>
              </a:rPr>
              <a:t>Photonendichte</a:t>
            </a:r>
          </a:p>
          <a:p>
            <a:pPr lvl="1"/>
            <a:r>
              <a:rPr lang="de-DE" dirty="0">
                <a:solidFill>
                  <a:srgbClr val="0F1111"/>
                </a:solidFill>
                <a:latin typeface="Amazon Ember"/>
              </a:rPr>
              <a:t>Gewünscht: 200µmol/m²s </a:t>
            </a:r>
          </a:p>
          <a:p>
            <a:pPr lvl="1"/>
            <a:r>
              <a:rPr lang="de-DE" dirty="0">
                <a:solidFill>
                  <a:srgbClr val="0F1111"/>
                </a:solidFill>
                <a:latin typeface="Amazon Ember"/>
              </a:rPr>
              <a:t>Lampen 15cm: 82µmol/m²s </a:t>
            </a:r>
          </a:p>
          <a:p>
            <a:endParaRPr lang="de-DE" dirty="0"/>
          </a:p>
          <a:p>
            <a:endParaRPr lang="de-DE" dirty="0"/>
          </a:p>
          <a:p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DE102E8-A847-49D7-4218-745E24100ED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5C802FAD-562E-4BE8-B850-EB01E0F3E0DB}" type="datetime1">
              <a:rPr lang="de-DE" smtClean="0"/>
              <a:t>14.12.2022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3A9927F-DDEC-2D65-F0A3-F80268A37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de-DE" dirty="0"/>
              <a:t>Ein </a:t>
            </a:r>
            <a:r>
              <a:rPr lang="de-DE" dirty="0" err="1"/>
              <a:t>Machine</a:t>
            </a:r>
            <a:r>
              <a:rPr lang="de-DE" dirty="0"/>
              <a:t> Learning basiertes Bewässerungssystem im geschützten Erdbeer-Anbau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C513694-CBF0-9FB7-B0A4-9353C3386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C073FD1-58EC-4DE9-9EA3-1DE3CC454F84}" type="slidenum">
              <a:rPr lang="de-DE" smtClean="0"/>
              <a:t>4</a:t>
            </a:fld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5D98F300-24DC-B6B7-4731-885E03E1778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9932" t="33385" r="18160" b="7279"/>
          <a:stretch/>
        </p:blipFill>
        <p:spPr>
          <a:xfrm rot="5400000">
            <a:off x="1111127" y="1277812"/>
            <a:ext cx="3418256" cy="4633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03226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B7639D-8041-7F3E-427D-AEE0DCBCA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Sonstiges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DCD97D1-26C4-72DD-5A3B-944B73DEFA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4770" y="1511040"/>
            <a:ext cx="10515599" cy="416718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de-DE" dirty="0"/>
          </a:p>
          <a:p>
            <a:r>
              <a:rPr lang="de-DE" dirty="0">
                <a:solidFill>
                  <a:srgbClr val="0F1111"/>
                </a:solidFill>
                <a:latin typeface="Amazon Ember"/>
              </a:rPr>
              <a:t>Zahnradpumpe</a:t>
            </a:r>
          </a:p>
          <a:p>
            <a:pPr lvl="1"/>
            <a:r>
              <a:rPr lang="de-DE" dirty="0">
                <a:solidFill>
                  <a:srgbClr val="0F1111"/>
                </a:solidFill>
                <a:latin typeface="Amazon Ember"/>
              </a:rPr>
              <a:t>Nicht zuverlässig</a:t>
            </a:r>
          </a:p>
          <a:p>
            <a:pPr lvl="1"/>
            <a:r>
              <a:rPr lang="de-DE" dirty="0">
                <a:solidFill>
                  <a:srgbClr val="0F1111"/>
                </a:solidFill>
                <a:latin typeface="Amazon Ember"/>
              </a:rPr>
              <a:t>Gebrochene/nicht korrekt geschweißt Litze</a:t>
            </a:r>
          </a:p>
          <a:p>
            <a:pPr marL="457200" lvl="1" indent="0">
              <a:buNone/>
            </a:pPr>
            <a:endParaRPr lang="de-DE" dirty="0">
              <a:solidFill>
                <a:srgbClr val="0F1111"/>
              </a:solidFill>
              <a:latin typeface="Amazon Ember"/>
            </a:endParaRPr>
          </a:p>
          <a:p>
            <a:r>
              <a:rPr lang="de-DE" dirty="0"/>
              <a:t>TTN Gateway</a:t>
            </a:r>
          </a:p>
          <a:p>
            <a:endParaRPr lang="de-DE" dirty="0"/>
          </a:p>
          <a:p>
            <a:r>
              <a:rPr lang="de-DE" dirty="0"/>
              <a:t>Sensor Integration</a:t>
            </a:r>
          </a:p>
          <a:p>
            <a:endParaRPr lang="de-DE" dirty="0"/>
          </a:p>
          <a:p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DE102E8-A847-49D7-4218-745E24100ED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5C802FAD-562E-4BE8-B850-EB01E0F3E0DB}" type="datetime1">
              <a:rPr lang="de-DE" smtClean="0"/>
              <a:t>14.12.2022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3A9927F-DDEC-2D65-F0A3-F80268A37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de-DE" dirty="0"/>
              <a:t>Ein </a:t>
            </a:r>
            <a:r>
              <a:rPr lang="de-DE" dirty="0" err="1"/>
              <a:t>Machine</a:t>
            </a:r>
            <a:r>
              <a:rPr lang="de-DE" dirty="0"/>
              <a:t> Learning basiertes Bewässerungssystem im geschützten Erdbeer-Anbau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C513694-CBF0-9FB7-B0A4-9353C3386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C073FD1-58EC-4DE9-9EA3-1DE3CC454F84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034011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B7639D-8041-7F3E-427D-AEE0DCBCA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Fragen: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DCD97D1-26C4-72DD-5A3B-944B73DEFA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4770" y="1511040"/>
            <a:ext cx="10515599" cy="416718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de-DE" dirty="0"/>
          </a:p>
          <a:p>
            <a:r>
              <a:rPr lang="de-DE" dirty="0"/>
              <a:t>Prüfungsleistung Research Management</a:t>
            </a:r>
          </a:p>
          <a:p>
            <a:pPr lvl="1"/>
            <a:r>
              <a:rPr lang="de-DE" dirty="0"/>
              <a:t>Abgabedatum</a:t>
            </a:r>
          </a:p>
          <a:p>
            <a:r>
              <a:rPr lang="de-DE" dirty="0"/>
              <a:t>Zugang Hochschule</a:t>
            </a:r>
          </a:p>
          <a:p>
            <a:pPr lvl="1"/>
            <a:r>
              <a:rPr lang="de-DE" dirty="0"/>
              <a:t>Feiertage</a:t>
            </a:r>
          </a:p>
          <a:p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DE102E8-A847-49D7-4218-745E24100ED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5C802FAD-562E-4BE8-B850-EB01E0F3E0DB}" type="datetime1">
              <a:rPr lang="de-DE" smtClean="0"/>
              <a:t>14.12.2022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3A9927F-DDEC-2D65-F0A3-F80268A37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de-DE" dirty="0"/>
              <a:t>Ein </a:t>
            </a:r>
            <a:r>
              <a:rPr lang="de-DE" dirty="0" err="1"/>
              <a:t>Machine</a:t>
            </a:r>
            <a:r>
              <a:rPr lang="de-DE" dirty="0"/>
              <a:t> Learning basiertes Bewässerungssystem im geschützten Erdbeer-Anbau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C513694-CBF0-9FB7-B0A4-9353C3386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C073FD1-58EC-4DE9-9EA3-1DE3CC454F84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996131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B7639D-8041-7F3E-427D-AEE0DCBCA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Arbeitspakete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DE102E8-A847-49D7-4218-745E24100ED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5C802FAD-562E-4BE8-B850-EB01E0F3E0DB}" type="datetime1">
              <a:rPr lang="de-DE" smtClean="0"/>
              <a:t>14.12.2022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3A9927F-DDEC-2D65-F0A3-F80268A37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de-DE" dirty="0"/>
              <a:t>Ein </a:t>
            </a:r>
            <a:r>
              <a:rPr lang="de-DE" dirty="0" err="1"/>
              <a:t>Machine</a:t>
            </a:r>
            <a:r>
              <a:rPr lang="de-DE" dirty="0"/>
              <a:t> Learning basiertes Bewässerungssystem im geschützten Erdbeer-Anbau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C513694-CBF0-9FB7-B0A4-9353C3386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C073FD1-58EC-4DE9-9EA3-1DE3CC454F84}" type="slidenum">
              <a:rPr lang="de-DE" smtClean="0"/>
              <a:t>7</a:t>
            </a:fld>
            <a:endParaRPr lang="de-DE"/>
          </a:p>
        </p:txBody>
      </p:sp>
      <p:graphicFrame>
        <p:nvGraphicFramePr>
          <p:cNvPr id="10" name="Tabelle 9">
            <a:extLst>
              <a:ext uri="{FF2B5EF4-FFF2-40B4-BE49-F238E27FC236}">
                <a16:creationId xmlns:a16="http://schemas.microsoft.com/office/drawing/2014/main" id="{40F6807C-803E-54FB-7361-0E6C391F89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2809029"/>
              </p:ext>
            </p:extLst>
          </p:nvPr>
        </p:nvGraphicFramePr>
        <p:xfrm>
          <a:off x="838193" y="2932311"/>
          <a:ext cx="10515615" cy="2137966"/>
        </p:xfrm>
        <a:graphic>
          <a:graphicData uri="http://schemas.openxmlformats.org/drawingml/2006/table">
            <a:tbl>
              <a:tblPr/>
              <a:tblGrid>
                <a:gridCol w="1858178">
                  <a:extLst>
                    <a:ext uri="{9D8B030D-6E8A-4147-A177-3AD203B41FA5}">
                      <a16:colId xmlns:a16="http://schemas.microsoft.com/office/drawing/2014/main" val="1578173552"/>
                    </a:ext>
                  </a:extLst>
                </a:gridCol>
                <a:gridCol w="211157">
                  <a:extLst>
                    <a:ext uri="{9D8B030D-6E8A-4147-A177-3AD203B41FA5}">
                      <a16:colId xmlns:a16="http://schemas.microsoft.com/office/drawing/2014/main" val="1291484271"/>
                    </a:ext>
                  </a:extLst>
                </a:gridCol>
                <a:gridCol w="211157">
                  <a:extLst>
                    <a:ext uri="{9D8B030D-6E8A-4147-A177-3AD203B41FA5}">
                      <a16:colId xmlns:a16="http://schemas.microsoft.com/office/drawing/2014/main" val="1691060755"/>
                    </a:ext>
                  </a:extLst>
                </a:gridCol>
                <a:gridCol w="211157">
                  <a:extLst>
                    <a:ext uri="{9D8B030D-6E8A-4147-A177-3AD203B41FA5}">
                      <a16:colId xmlns:a16="http://schemas.microsoft.com/office/drawing/2014/main" val="794980751"/>
                    </a:ext>
                  </a:extLst>
                </a:gridCol>
                <a:gridCol w="211157">
                  <a:extLst>
                    <a:ext uri="{9D8B030D-6E8A-4147-A177-3AD203B41FA5}">
                      <a16:colId xmlns:a16="http://schemas.microsoft.com/office/drawing/2014/main" val="289369632"/>
                    </a:ext>
                  </a:extLst>
                </a:gridCol>
                <a:gridCol w="211157">
                  <a:extLst>
                    <a:ext uri="{9D8B030D-6E8A-4147-A177-3AD203B41FA5}">
                      <a16:colId xmlns:a16="http://schemas.microsoft.com/office/drawing/2014/main" val="3065986714"/>
                    </a:ext>
                  </a:extLst>
                </a:gridCol>
                <a:gridCol w="211157">
                  <a:extLst>
                    <a:ext uri="{9D8B030D-6E8A-4147-A177-3AD203B41FA5}">
                      <a16:colId xmlns:a16="http://schemas.microsoft.com/office/drawing/2014/main" val="3204779573"/>
                    </a:ext>
                  </a:extLst>
                </a:gridCol>
                <a:gridCol w="211157">
                  <a:extLst>
                    <a:ext uri="{9D8B030D-6E8A-4147-A177-3AD203B41FA5}">
                      <a16:colId xmlns:a16="http://schemas.microsoft.com/office/drawing/2014/main" val="2120938588"/>
                    </a:ext>
                  </a:extLst>
                </a:gridCol>
                <a:gridCol w="211157">
                  <a:extLst>
                    <a:ext uri="{9D8B030D-6E8A-4147-A177-3AD203B41FA5}">
                      <a16:colId xmlns:a16="http://schemas.microsoft.com/office/drawing/2014/main" val="3288755758"/>
                    </a:ext>
                  </a:extLst>
                </a:gridCol>
                <a:gridCol w="211157">
                  <a:extLst>
                    <a:ext uri="{9D8B030D-6E8A-4147-A177-3AD203B41FA5}">
                      <a16:colId xmlns:a16="http://schemas.microsoft.com/office/drawing/2014/main" val="2619307106"/>
                    </a:ext>
                  </a:extLst>
                </a:gridCol>
                <a:gridCol w="211157">
                  <a:extLst>
                    <a:ext uri="{9D8B030D-6E8A-4147-A177-3AD203B41FA5}">
                      <a16:colId xmlns:a16="http://schemas.microsoft.com/office/drawing/2014/main" val="4142890014"/>
                    </a:ext>
                  </a:extLst>
                </a:gridCol>
                <a:gridCol w="211157">
                  <a:extLst>
                    <a:ext uri="{9D8B030D-6E8A-4147-A177-3AD203B41FA5}">
                      <a16:colId xmlns:a16="http://schemas.microsoft.com/office/drawing/2014/main" val="2332031188"/>
                    </a:ext>
                  </a:extLst>
                </a:gridCol>
                <a:gridCol w="211157">
                  <a:extLst>
                    <a:ext uri="{9D8B030D-6E8A-4147-A177-3AD203B41FA5}">
                      <a16:colId xmlns:a16="http://schemas.microsoft.com/office/drawing/2014/main" val="2552433872"/>
                    </a:ext>
                  </a:extLst>
                </a:gridCol>
                <a:gridCol w="211157">
                  <a:extLst>
                    <a:ext uri="{9D8B030D-6E8A-4147-A177-3AD203B41FA5}">
                      <a16:colId xmlns:a16="http://schemas.microsoft.com/office/drawing/2014/main" val="2534754929"/>
                    </a:ext>
                  </a:extLst>
                </a:gridCol>
                <a:gridCol w="211157">
                  <a:extLst>
                    <a:ext uri="{9D8B030D-6E8A-4147-A177-3AD203B41FA5}">
                      <a16:colId xmlns:a16="http://schemas.microsoft.com/office/drawing/2014/main" val="3458237603"/>
                    </a:ext>
                  </a:extLst>
                </a:gridCol>
                <a:gridCol w="211157">
                  <a:extLst>
                    <a:ext uri="{9D8B030D-6E8A-4147-A177-3AD203B41FA5}">
                      <a16:colId xmlns:a16="http://schemas.microsoft.com/office/drawing/2014/main" val="1218115382"/>
                    </a:ext>
                  </a:extLst>
                </a:gridCol>
                <a:gridCol w="211157">
                  <a:extLst>
                    <a:ext uri="{9D8B030D-6E8A-4147-A177-3AD203B41FA5}">
                      <a16:colId xmlns:a16="http://schemas.microsoft.com/office/drawing/2014/main" val="3623281439"/>
                    </a:ext>
                  </a:extLst>
                </a:gridCol>
                <a:gridCol w="211157">
                  <a:extLst>
                    <a:ext uri="{9D8B030D-6E8A-4147-A177-3AD203B41FA5}">
                      <a16:colId xmlns:a16="http://schemas.microsoft.com/office/drawing/2014/main" val="413962695"/>
                    </a:ext>
                  </a:extLst>
                </a:gridCol>
                <a:gridCol w="211157">
                  <a:extLst>
                    <a:ext uri="{9D8B030D-6E8A-4147-A177-3AD203B41FA5}">
                      <a16:colId xmlns:a16="http://schemas.microsoft.com/office/drawing/2014/main" val="3422533160"/>
                    </a:ext>
                  </a:extLst>
                </a:gridCol>
                <a:gridCol w="211157">
                  <a:extLst>
                    <a:ext uri="{9D8B030D-6E8A-4147-A177-3AD203B41FA5}">
                      <a16:colId xmlns:a16="http://schemas.microsoft.com/office/drawing/2014/main" val="3371512862"/>
                    </a:ext>
                  </a:extLst>
                </a:gridCol>
                <a:gridCol w="211157">
                  <a:extLst>
                    <a:ext uri="{9D8B030D-6E8A-4147-A177-3AD203B41FA5}">
                      <a16:colId xmlns:a16="http://schemas.microsoft.com/office/drawing/2014/main" val="866436160"/>
                    </a:ext>
                  </a:extLst>
                </a:gridCol>
                <a:gridCol w="211157">
                  <a:extLst>
                    <a:ext uri="{9D8B030D-6E8A-4147-A177-3AD203B41FA5}">
                      <a16:colId xmlns:a16="http://schemas.microsoft.com/office/drawing/2014/main" val="1096918529"/>
                    </a:ext>
                  </a:extLst>
                </a:gridCol>
                <a:gridCol w="211157">
                  <a:extLst>
                    <a:ext uri="{9D8B030D-6E8A-4147-A177-3AD203B41FA5}">
                      <a16:colId xmlns:a16="http://schemas.microsoft.com/office/drawing/2014/main" val="60831407"/>
                    </a:ext>
                  </a:extLst>
                </a:gridCol>
                <a:gridCol w="211157">
                  <a:extLst>
                    <a:ext uri="{9D8B030D-6E8A-4147-A177-3AD203B41FA5}">
                      <a16:colId xmlns:a16="http://schemas.microsoft.com/office/drawing/2014/main" val="248633255"/>
                    </a:ext>
                  </a:extLst>
                </a:gridCol>
                <a:gridCol w="211157">
                  <a:extLst>
                    <a:ext uri="{9D8B030D-6E8A-4147-A177-3AD203B41FA5}">
                      <a16:colId xmlns:a16="http://schemas.microsoft.com/office/drawing/2014/main" val="997852066"/>
                    </a:ext>
                  </a:extLst>
                </a:gridCol>
                <a:gridCol w="211157">
                  <a:extLst>
                    <a:ext uri="{9D8B030D-6E8A-4147-A177-3AD203B41FA5}">
                      <a16:colId xmlns:a16="http://schemas.microsoft.com/office/drawing/2014/main" val="3035638828"/>
                    </a:ext>
                  </a:extLst>
                </a:gridCol>
                <a:gridCol w="211157">
                  <a:extLst>
                    <a:ext uri="{9D8B030D-6E8A-4147-A177-3AD203B41FA5}">
                      <a16:colId xmlns:a16="http://schemas.microsoft.com/office/drawing/2014/main" val="2874875308"/>
                    </a:ext>
                  </a:extLst>
                </a:gridCol>
                <a:gridCol w="211157">
                  <a:extLst>
                    <a:ext uri="{9D8B030D-6E8A-4147-A177-3AD203B41FA5}">
                      <a16:colId xmlns:a16="http://schemas.microsoft.com/office/drawing/2014/main" val="1019460280"/>
                    </a:ext>
                  </a:extLst>
                </a:gridCol>
                <a:gridCol w="211157">
                  <a:extLst>
                    <a:ext uri="{9D8B030D-6E8A-4147-A177-3AD203B41FA5}">
                      <a16:colId xmlns:a16="http://schemas.microsoft.com/office/drawing/2014/main" val="1353732066"/>
                    </a:ext>
                  </a:extLst>
                </a:gridCol>
                <a:gridCol w="211157">
                  <a:extLst>
                    <a:ext uri="{9D8B030D-6E8A-4147-A177-3AD203B41FA5}">
                      <a16:colId xmlns:a16="http://schemas.microsoft.com/office/drawing/2014/main" val="3913441435"/>
                    </a:ext>
                  </a:extLst>
                </a:gridCol>
                <a:gridCol w="211157">
                  <a:extLst>
                    <a:ext uri="{9D8B030D-6E8A-4147-A177-3AD203B41FA5}">
                      <a16:colId xmlns:a16="http://schemas.microsoft.com/office/drawing/2014/main" val="1586228314"/>
                    </a:ext>
                  </a:extLst>
                </a:gridCol>
                <a:gridCol w="211157">
                  <a:extLst>
                    <a:ext uri="{9D8B030D-6E8A-4147-A177-3AD203B41FA5}">
                      <a16:colId xmlns:a16="http://schemas.microsoft.com/office/drawing/2014/main" val="3346609739"/>
                    </a:ext>
                  </a:extLst>
                </a:gridCol>
                <a:gridCol w="211157">
                  <a:extLst>
                    <a:ext uri="{9D8B030D-6E8A-4147-A177-3AD203B41FA5}">
                      <a16:colId xmlns:a16="http://schemas.microsoft.com/office/drawing/2014/main" val="591233202"/>
                    </a:ext>
                  </a:extLst>
                </a:gridCol>
                <a:gridCol w="211157">
                  <a:extLst>
                    <a:ext uri="{9D8B030D-6E8A-4147-A177-3AD203B41FA5}">
                      <a16:colId xmlns:a16="http://schemas.microsoft.com/office/drawing/2014/main" val="3279128689"/>
                    </a:ext>
                  </a:extLst>
                </a:gridCol>
                <a:gridCol w="211157">
                  <a:extLst>
                    <a:ext uri="{9D8B030D-6E8A-4147-A177-3AD203B41FA5}">
                      <a16:colId xmlns:a16="http://schemas.microsoft.com/office/drawing/2014/main" val="3917803301"/>
                    </a:ext>
                  </a:extLst>
                </a:gridCol>
                <a:gridCol w="211157">
                  <a:extLst>
                    <a:ext uri="{9D8B030D-6E8A-4147-A177-3AD203B41FA5}">
                      <a16:colId xmlns:a16="http://schemas.microsoft.com/office/drawing/2014/main" val="3347258559"/>
                    </a:ext>
                  </a:extLst>
                </a:gridCol>
                <a:gridCol w="211157">
                  <a:extLst>
                    <a:ext uri="{9D8B030D-6E8A-4147-A177-3AD203B41FA5}">
                      <a16:colId xmlns:a16="http://schemas.microsoft.com/office/drawing/2014/main" val="3623063497"/>
                    </a:ext>
                  </a:extLst>
                </a:gridCol>
                <a:gridCol w="211157">
                  <a:extLst>
                    <a:ext uri="{9D8B030D-6E8A-4147-A177-3AD203B41FA5}">
                      <a16:colId xmlns:a16="http://schemas.microsoft.com/office/drawing/2014/main" val="2720958568"/>
                    </a:ext>
                  </a:extLst>
                </a:gridCol>
                <a:gridCol w="211157">
                  <a:extLst>
                    <a:ext uri="{9D8B030D-6E8A-4147-A177-3AD203B41FA5}">
                      <a16:colId xmlns:a16="http://schemas.microsoft.com/office/drawing/2014/main" val="2718695919"/>
                    </a:ext>
                  </a:extLst>
                </a:gridCol>
                <a:gridCol w="211157">
                  <a:extLst>
                    <a:ext uri="{9D8B030D-6E8A-4147-A177-3AD203B41FA5}">
                      <a16:colId xmlns:a16="http://schemas.microsoft.com/office/drawing/2014/main" val="840337411"/>
                    </a:ext>
                  </a:extLst>
                </a:gridCol>
                <a:gridCol w="211157">
                  <a:extLst>
                    <a:ext uri="{9D8B030D-6E8A-4147-A177-3AD203B41FA5}">
                      <a16:colId xmlns:a16="http://schemas.microsoft.com/office/drawing/2014/main" val="4084052531"/>
                    </a:ext>
                  </a:extLst>
                </a:gridCol>
                <a:gridCol w="211157">
                  <a:extLst>
                    <a:ext uri="{9D8B030D-6E8A-4147-A177-3AD203B41FA5}">
                      <a16:colId xmlns:a16="http://schemas.microsoft.com/office/drawing/2014/main" val="3803479271"/>
                    </a:ext>
                  </a:extLst>
                </a:gridCol>
              </a:tblGrid>
              <a:tr h="453987"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Arbeitspakete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24. Okt.</a:t>
                      </a:r>
                    </a:p>
                  </a:txBody>
                  <a:tcPr marL="5279" marR="5279" marT="5279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31. Okt.</a:t>
                      </a:r>
                    </a:p>
                  </a:txBody>
                  <a:tcPr marL="5279" marR="5279" marT="5279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 Nov.</a:t>
                      </a:r>
                    </a:p>
                  </a:txBody>
                  <a:tcPr marL="5279" marR="5279" marT="5279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14. Nov.</a:t>
                      </a:r>
                    </a:p>
                  </a:txBody>
                  <a:tcPr marL="5279" marR="5279" marT="5279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21. Nov.</a:t>
                      </a:r>
                    </a:p>
                  </a:txBody>
                  <a:tcPr marL="5279" marR="5279" marT="5279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28. Nov.</a:t>
                      </a:r>
                    </a:p>
                  </a:txBody>
                  <a:tcPr marL="5279" marR="5279" marT="5279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 Dez.</a:t>
                      </a:r>
                    </a:p>
                  </a:txBody>
                  <a:tcPr marL="5279" marR="5279" marT="5279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9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Calibri" panose="020F0502020204030204" pitchFamily="34" charset="0"/>
                        </a:rPr>
                        <a:t>12. Dez</a:t>
                      </a:r>
                      <a:r>
                        <a:rPr lang="de-DE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.</a:t>
                      </a:r>
                    </a:p>
                  </a:txBody>
                  <a:tcPr marL="5279" marR="5279" marT="5279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19. Dez.</a:t>
                      </a:r>
                    </a:p>
                  </a:txBody>
                  <a:tcPr marL="5279" marR="5279" marT="5279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26. Dez.</a:t>
                      </a:r>
                    </a:p>
                  </a:txBody>
                  <a:tcPr marL="5279" marR="5279" marT="5279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 Jan.</a:t>
                      </a:r>
                    </a:p>
                  </a:txBody>
                  <a:tcPr marL="5279" marR="5279" marT="5279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9. Jan.</a:t>
                      </a:r>
                    </a:p>
                  </a:txBody>
                  <a:tcPr marL="5279" marR="5279" marT="5279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16. Jan.</a:t>
                      </a:r>
                    </a:p>
                  </a:txBody>
                  <a:tcPr marL="5279" marR="5279" marT="5279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23. Jan.</a:t>
                      </a:r>
                    </a:p>
                  </a:txBody>
                  <a:tcPr marL="5279" marR="5279" marT="5279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30. Jan.</a:t>
                      </a:r>
                    </a:p>
                  </a:txBody>
                  <a:tcPr marL="5279" marR="5279" marT="5279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 Feb.</a:t>
                      </a:r>
                    </a:p>
                  </a:txBody>
                  <a:tcPr marL="5279" marR="5279" marT="5279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13. Feb.</a:t>
                      </a:r>
                    </a:p>
                  </a:txBody>
                  <a:tcPr marL="5279" marR="5279" marT="5279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20. Feb.</a:t>
                      </a:r>
                    </a:p>
                  </a:txBody>
                  <a:tcPr marL="5279" marR="5279" marT="5279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27. Feb.</a:t>
                      </a:r>
                    </a:p>
                  </a:txBody>
                  <a:tcPr marL="5279" marR="5279" marT="5279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 Mrz.</a:t>
                      </a:r>
                    </a:p>
                  </a:txBody>
                  <a:tcPr marL="5279" marR="5279" marT="5279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13. Mrz.</a:t>
                      </a:r>
                    </a:p>
                  </a:txBody>
                  <a:tcPr marL="5279" marR="5279" marT="5279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20. Mrz.</a:t>
                      </a:r>
                    </a:p>
                  </a:txBody>
                  <a:tcPr marL="5279" marR="5279" marT="5279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27. Mrz.</a:t>
                      </a:r>
                    </a:p>
                  </a:txBody>
                  <a:tcPr marL="5279" marR="5279" marT="5279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 Apr.</a:t>
                      </a:r>
                    </a:p>
                  </a:txBody>
                  <a:tcPr marL="5279" marR="5279" marT="5279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10. Apr.</a:t>
                      </a:r>
                    </a:p>
                  </a:txBody>
                  <a:tcPr marL="5279" marR="5279" marT="5279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17. Apr.</a:t>
                      </a:r>
                    </a:p>
                  </a:txBody>
                  <a:tcPr marL="5279" marR="5279" marT="5279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24. Apr.</a:t>
                      </a:r>
                    </a:p>
                  </a:txBody>
                  <a:tcPr marL="5279" marR="5279" marT="5279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 Mai.</a:t>
                      </a:r>
                    </a:p>
                  </a:txBody>
                  <a:tcPr marL="5279" marR="5279" marT="5279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8. Mai.</a:t>
                      </a:r>
                    </a:p>
                  </a:txBody>
                  <a:tcPr marL="5279" marR="5279" marT="5279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15. Mai.</a:t>
                      </a:r>
                    </a:p>
                  </a:txBody>
                  <a:tcPr marL="5279" marR="5279" marT="5279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22. Mai.</a:t>
                      </a:r>
                    </a:p>
                  </a:txBody>
                  <a:tcPr marL="5279" marR="5279" marT="5279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29. Mai.</a:t>
                      </a:r>
                    </a:p>
                  </a:txBody>
                  <a:tcPr marL="5279" marR="5279" marT="5279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 Jun.</a:t>
                      </a:r>
                    </a:p>
                  </a:txBody>
                  <a:tcPr marL="5279" marR="5279" marT="5279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12. Jun.</a:t>
                      </a:r>
                    </a:p>
                  </a:txBody>
                  <a:tcPr marL="5279" marR="5279" marT="5279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19. Jun.</a:t>
                      </a:r>
                    </a:p>
                  </a:txBody>
                  <a:tcPr marL="5279" marR="5279" marT="5279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26. Jun.</a:t>
                      </a:r>
                    </a:p>
                  </a:txBody>
                  <a:tcPr marL="5279" marR="5279" marT="5279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 Jul.</a:t>
                      </a:r>
                    </a:p>
                  </a:txBody>
                  <a:tcPr marL="5279" marR="5279" marT="5279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10. Jul.</a:t>
                      </a:r>
                    </a:p>
                  </a:txBody>
                  <a:tcPr marL="5279" marR="5279" marT="5279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17. Jul.</a:t>
                      </a:r>
                    </a:p>
                  </a:txBody>
                  <a:tcPr marL="5279" marR="5279" marT="5279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24. Jul.</a:t>
                      </a:r>
                    </a:p>
                  </a:txBody>
                  <a:tcPr marL="5279" marR="5279" marT="5279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31. Jul.</a:t>
                      </a:r>
                    </a:p>
                  </a:txBody>
                  <a:tcPr marL="5279" marR="5279" marT="5279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5173716"/>
                  </a:ext>
                </a:extLst>
              </a:tr>
              <a:tr h="153089"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Integration Wassersensor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7254979"/>
                  </a:ext>
                </a:extLst>
              </a:tr>
              <a:tr h="153089"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Integration EC-Sensor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8980540"/>
                  </a:ext>
                </a:extLst>
              </a:tr>
              <a:tr h="153089"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Einarbeitung Reinforcement Learning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3053541"/>
                  </a:ext>
                </a:extLst>
              </a:tr>
              <a:tr h="153089"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Aufbau/Kauf Gewächshaus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6337182"/>
                  </a:ext>
                </a:extLst>
              </a:tr>
              <a:tr h="153089"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Messungen HHN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843378"/>
                  </a:ext>
                </a:extLst>
              </a:tr>
              <a:tr h="153089"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Training Modell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 dirty="0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1971730"/>
                  </a:ext>
                </a:extLst>
              </a:tr>
              <a:tr h="153089"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Integration/Validierung Modell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0906231"/>
                  </a:ext>
                </a:extLst>
              </a:tr>
              <a:tr h="153089"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Messungen Betrieb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0322786"/>
                  </a:ext>
                </a:extLst>
              </a:tr>
              <a:tr h="153089"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weiteres Training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2195026"/>
                  </a:ext>
                </a:extLst>
              </a:tr>
              <a:tr h="153089"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weitere Integration/Validierung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9148875"/>
                  </a:ext>
                </a:extLst>
              </a:tr>
              <a:tr h="153089"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Dokumentation/Meetings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6736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955071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785</Words>
  <Application>Microsoft Office PowerPoint</Application>
  <PresentationFormat>Breitbild</PresentationFormat>
  <Paragraphs>559</Paragraphs>
  <Slides>7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7</vt:i4>
      </vt:variant>
    </vt:vector>
  </HeadingPairs>
  <TitlesOfParts>
    <vt:vector size="12" baseType="lpstr">
      <vt:lpstr>Amazon Ember</vt:lpstr>
      <vt:lpstr>Arial</vt:lpstr>
      <vt:lpstr>Calibri</vt:lpstr>
      <vt:lpstr>Calibri Light</vt:lpstr>
      <vt:lpstr>Office</vt:lpstr>
      <vt:lpstr>Ein Machine Learning basiertes Bewässerungssystem im geschützten Erdbeer-Anbau</vt:lpstr>
      <vt:lpstr>Projektziel</vt:lpstr>
      <vt:lpstr>Gewächshaus</vt:lpstr>
      <vt:lpstr>Lichter</vt:lpstr>
      <vt:lpstr>Sonstiges</vt:lpstr>
      <vt:lpstr>Fragen:</vt:lpstr>
      <vt:lpstr>Arbeitspakete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Ein Machine Learning basiertes Bewässerungssystem im geschützten Erdbeer-Anbau</dc:title>
  <dc:creator>Nils Boehringer</dc:creator>
  <cp:lastModifiedBy>Nils Böhringer</cp:lastModifiedBy>
  <cp:revision>12</cp:revision>
  <dcterms:created xsi:type="dcterms:W3CDTF">2022-10-13T03:57:49Z</dcterms:created>
  <dcterms:modified xsi:type="dcterms:W3CDTF">2022-12-14T13:50:12Z</dcterms:modified>
</cp:coreProperties>
</file>