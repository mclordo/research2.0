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2" r:id="rId4"/>
    <p:sldId id="259" r:id="rId5"/>
    <p:sldId id="264" r:id="rId6"/>
    <p:sldId id="263" r:id="rId7"/>
    <p:sldId id="265" r:id="rId8"/>
    <p:sldId id="258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60"/>
  </p:normalViewPr>
  <p:slideViewPr>
    <p:cSldViewPr snapToGrid="0">
      <p:cViewPr varScale="1">
        <p:scale>
          <a:sx n="162" d="100"/>
          <a:sy n="162" d="100"/>
        </p:scale>
        <p:origin x="100" y="14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F88FAE-25FD-9A2F-FDA3-3F66E241BC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6101050-111D-9EF5-6345-37278DE819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6B21888-197F-5FE0-A437-BAA886FB2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12.01.2023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FA475FA-51AC-188D-D1DF-BC5C0D642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682C95F-32C8-8F1D-7791-80F239B29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8676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C30E08-FC7C-A0FB-8227-C3364F453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21C22FA-9569-022A-5116-FF64900C33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8FACDCA-FEC2-541E-E5A3-CD9FDD9CA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12.01.2023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8D26C97-D8E7-9AB0-2F46-BD20CAA71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D7CA2DF-D65A-61A8-B375-82C31BFCC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27937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46EB1C-ECBE-6DC5-3D52-3CF0C0D02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498B53F-46B2-A2A9-AFE0-257442E0B5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824F9BE-1F9F-9493-DEC7-0A2D26412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12.01.2023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9D9049C-2331-2BC0-22FF-91DED9EEA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641DFD2-19C3-843E-34E3-F1909C49C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46453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A44443-A923-DBB1-1408-A652FBDAA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14772E6-6E13-E561-EF58-C7C18C00C6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38C53BD-2FB9-972D-9D04-5B315CF3A9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6C72576-AF91-8ABB-0233-9168A1121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12.01.2023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9E2F1CB-5943-982B-D36D-A4BA6F2AD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7068C72-E0F2-6B69-C189-8119CE069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78443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A487BF-8C51-537C-8936-E2E7F29DA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2C064F5-F32A-B1B0-0449-D2B68A2F1E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4B4CE91-ECB7-0726-DB9A-9F390F9A81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8DDEC7C-1C33-462B-A4F9-1A548FF97E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33CF77E-3AB1-E3CF-79B1-E1CF77C1BB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387EA39-037B-BB24-9DAB-4934CB974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12.01.2023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8376A6A-22E1-10DF-4DDC-88E2ABD7F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F15F3AC-E465-A50A-F219-AA0CB47E9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4119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2F36A9-BFE5-27A4-96DE-2BAB910A9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7AD8C0E-9EA7-FA82-A7D1-CCB00E8E0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12.01.2023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8C56693-EA35-61FC-D5CB-33FBA780B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90F88D0-EB97-BF1F-BB0A-03A623C2B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85567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A3A5EE4-AA48-2408-D8F3-85C265BAF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12.01.2023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BD76DD2-C788-6BC8-5885-F9ABAEE61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4159A1B-7C8C-F077-94B6-6FCC25744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14545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7EB11B-986A-B128-5A20-C43C0037E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A88E5BB-8224-A693-E9B1-FFB290B53F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B07AA37-745B-701C-FB09-5121CED333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6432B1A-A5EC-0249-F32E-2731F1591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12.01.2023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68AC52F-3CD8-3A14-E007-B3AFE8AD3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BA5FC27-DE4F-9F4A-62FD-D26028DF1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3465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77299B-234D-44BC-DBBA-D12309479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D300FC7-2079-F991-EEFF-86EF7B7169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A2ED1AC-DDF1-414B-122D-2FFBD3A504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89A04B4-02BD-55B1-21E2-F6E7EBD15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12.01.2023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8846DD1-34C7-EBAB-0B7C-695E0B69E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01E90D7-E646-5DBE-FAE3-6E64C5924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87792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A5625C-DF05-2FD7-0371-92B8857FE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ABB88F1-A6DA-B4BF-5A3B-9E2F65136E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5ED2672-EBA6-473F-9D27-36D985F86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12.01.2023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3FD58A4-66CD-3D05-E905-D1840039C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D855482-8A8E-405F-7DB3-419CA50F9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47162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061B0F9-62D2-E99B-C8E0-EA535738D9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5334B5E-C661-D80D-F815-17EC572D16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1A18AF6-88F1-D4FA-5CBC-5B90DB03F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12.01.2023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05D5D59-965E-1FD7-161F-4203935E5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291C36F-029B-FC3E-FA29-46A333FB8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96478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7039FBDF-8E86-AED3-3183-EF0A81B02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8457C92-F592-BFEA-FD24-5E1A3556F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DE293E1-9ECC-4325-962E-AFBB96343B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B1F1A1-E683-4AE0-BED5-F2FD613BCC3A}" type="datetimeFigureOut">
              <a:rPr lang="de-DE" smtClean="0"/>
              <a:t>12.01.2023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3BABC50-2E0B-6BE2-9755-C2684FEEC9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19F63A5-4F86-60C4-69CD-BB503D8462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2631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487721-8B38-5C01-7014-034977E4A4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07253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de-DE" dirty="0"/>
              <a:t>Ein </a:t>
            </a:r>
            <a:r>
              <a:rPr lang="de-DE" dirty="0" err="1"/>
              <a:t>Machine</a:t>
            </a:r>
            <a:r>
              <a:rPr lang="de-DE" dirty="0"/>
              <a:t> Learning basiertes Bewässerungssystem im geschützten Erdbeer-Anbau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547A926-9149-A395-6438-A4858C355C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86928"/>
            <a:ext cx="9144000" cy="1655762"/>
          </a:xfrm>
        </p:spPr>
        <p:txBody>
          <a:bodyPr/>
          <a:lstStyle/>
          <a:p>
            <a:endParaRPr lang="de-DE" dirty="0"/>
          </a:p>
          <a:p>
            <a:r>
              <a:rPr lang="de-DE" dirty="0"/>
              <a:t>Nils Böhringer</a:t>
            </a:r>
          </a:p>
        </p:txBody>
      </p:sp>
    </p:spTree>
    <p:extLst>
      <p:ext uri="{BB962C8B-B14F-4D97-AF65-F5344CB8AC3E}">
        <p14:creationId xmlns:p14="http://schemas.microsoft.com/office/powerpoint/2010/main" val="3039924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B7639D-8041-7F3E-427D-AEE0DCBCA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Projektziel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DCD97D1-26C4-72DD-5A3B-944B73DEFA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de-DE" dirty="0"/>
              <a:t>Implementierung eines </a:t>
            </a:r>
            <a:r>
              <a:rPr lang="de-DE" dirty="0" err="1"/>
              <a:t>Machine</a:t>
            </a:r>
            <a:r>
              <a:rPr lang="de-DE" dirty="0"/>
              <a:t> Learning Algorithmus welcher auf Basis des Drain einer Erdbeer-Substartkultur automatisch die Bewässerungszeiten bestimmt</a:t>
            </a:r>
          </a:p>
          <a:p>
            <a:pPr marL="0" indent="0">
              <a:buNone/>
            </a:pPr>
            <a:endParaRPr lang="de-DE" dirty="0"/>
          </a:p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DE102E8-A847-49D7-4218-745E24100E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5C802FAD-562E-4BE8-B850-EB01E0F3E0DB}" type="datetime1">
              <a:rPr lang="de-DE" smtClean="0"/>
              <a:t>12.01.2023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3A9927F-DDEC-2D65-F0A3-F80268A37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de-DE" dirty="0"/>
              <a:t>Ein </a:t>
            </a:r>
            <a:r>
              <a:rPr lang="de-DE" dirty="0" err="1"/>
              <a:t>Machine</a:t>
            </a:r>
            <a:r>
              <a:rPr lang="de-DE" dirty="0"/>
              <a:t> Learning basiertes Bewässerungssystem im geschützten Erdbeer-Anbau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513694-CBF0-9FB7-B0A4-9353C338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C073FD1-58EC-4DE9-9EA3-1DE3CC454F84}" type="slidenum">
              <a:rPr lang="de-DE" smtClean="0"/>
              <a:t>2</a:t>
            </a:fld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89BDE27D-7220-0E5E-3B8D-0DA279599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529" y="3429000"/>
            <a:ext cx="2976360" cy="223227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024A3C48-18BE-B349-2A9D-75D7789A92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1521" y="3918891"/>
            <a:ext cx="2377552" cy="125248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Pfeil: nach rechts 12">
            <a:extLst>
              <a:ext uri="{FF2B5EF4-FFF2-40B4-BE49-F238E27FC236}">
                <a16:creationId xmlns:a16="http://schemas.microsoft.com/office/drawing/2014/main" id="{7B25F19E-927C-DA01-3F1B-1E00DF096B91}"/>
              </a:ext>
            </a:extLst>
          </p:cNvPr>
          <p:cNvSpPr/>
          <p:nvPr/>
        </p:nvSpPr>
        <p:spPr>
          <a:xfrm>
            <a:off x="4506794" y="4475401"/>
            <a:ext cx="347636" cy="1406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A074FC76-6784-7D0D-247C-55B14CD2BEC0}"/>
              </a:ext>
            </a:extLst>
          </p:cNvPr>
          <p:cNvSpPr/>
          <p:nvPr/>
        </p:nvSpPr>
        <p:spPr>
          <a:xfrm>
            <a:off x="4952335" y="4100009"/>
            <a:ext cx="1106147" cy="86730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 err="1"/>
              <a:t>LoRa</a:t>
            </a:r>
            <a:r>
              <a:rPr lang="de-DE" dirty="0"/>
              <a:t> Sensor </a:t>
            </a:r>
            <a:r>
              <a:rPr lang="de-DE" dirty="0" err="1"/>
              <a:t>Node</a:t>
            </a:r>
            <a:endParaRPr lang="de-DE" dirty="0"/>
          </a:p>
        </p:txBody>
      </p:sp>
      <p:sp>
        <p:nvSpPr>
          <p:cNvPr id="16" name="Pfeil: nach rechts 15">
            <a:extLst>
              <a:ext uri="{FF2B5EF4-FFF2-40B4-BE49-F238E27FC236}">
                <a16:creationId xmlns:a16="http://schemas.microsoft.com/office/drawing/2014/main" id="{14977348-695B-F84C-C10F-B13DDB4D35D1}"/>
              </a:ext>
            </a:extLst>
          </p:cNvPr>
          <p:cNvSpPr/>
          <p:nvPr/>
        </p:nvSpPr>
        <p:spPr>
          <a:xfrm>
            <a:off x="6156387" y="4474798"/>
            <a:ext cx="347636" cy="1406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C63B17CB-A56A-011F-F8C9-73CD2D7ABEA6}"/>
              </a:ext>
            </a:extLst>
          </p:cNvPr>
          <p:cNvSpPr/>
          <p:nvPr/>
        </p:nvSpPr>
        <p:spPr>
          <a:xfrm>
            <a:off x="6601928" y="4111479"/>
            <a:ext cx="1106147" cy="86730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ML </a:t>
            </a:r>
            <a:r>
              <a:rPr lang="de-DE" dirty="0" err="1"/>
              <a:t>Algorit-hmus</a:t>
            </a:r>
            <a:endParaRPr lang="de-DE" dirty="0"/>
          </a:p>
        </p:txBody>
      </p:sp>
      <p:sp>
        <p:nvSpPr>
          <p:cNvPr id="18" name="Pfeil: nach rechts 17">
            <a:extLst>
              <a:ext uri="{FF2B5EF4-FFF2-40B4-BE49-F238E27FC236}">
                <a16:creationId xmlns:a16="http://schemas.microsoft.com/office/drawing/2014/main" id="{31B5C8F8-B7D9-29C1-19F3-D908DD2CF167}"/>
              </a:ext>
            </a:extLst>
          </p:cNvPr>
          <p:cNvSpPr/>
          <p:nvPr/>
        </p:nvSpPr>
        <p:spPr>
          <a:xfrm>
            <a:off x="7805980" y="4480612"/>
            <a:ext cx="347636" cy="1406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50816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B7639D-8041-7F3E-427D-AEE0DCBCA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Gewächshaus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DE102E8-A847-49D7-4218-745E24100E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5C802FAD-562E-4BE8-B850-EB01E0F3E0DB}" type="datetime1">
              <a:rPr lang="de-DE" smtClean="0"/>
              <a:t>12.01.2023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3A9927F-DDEC-2D65-F0A3-F80268A37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de-DE" dirty="0"/>
              <a:t>Ein </a:t>
            </a:r>
            <a:r>
              <a:rPr lang="de-DE" dirty="0" err="1"/>
              <a:t>Machine</a:t>
            </a:r>
            <a:r>
              <a:rPr lang="de-DE" dirty="0"/>
              <a:t> Learning basiertes Bewässerungssystem im geschützten Erdbeer-Anbau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513694-CBF0-9FB7-B0A4-9353C338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C073FD1-58EC-4DE9-9EA3-1DE3CC454F84}" type="slidenum">
              <a:rPr lang="de-DE" smtClean="0"/>
              <a:t>3</a:t>
            </a:fld>
            <a:endParaRPr lang="de-DE"/>
          </a:p>
        </p:txBody>
      </p:sp>
      <p:pic>
        <p:nvPicPr>
          <p:cNvPr id="12" name="Inhaltsplatzhalter 11" descr="Ein Bild, das Blume, Pflanze, Begonie enthält.&#10;&#10;Automatisch generierte Beschreibung">
            <a:extLst>
              <a:ext uri="{FF2B5EF4-FFF2-40B4-BE49-F238E27FC236}">
                <a16:creationId xmlns:a16="http://schemas.microsoft.com/office/drawing/2014/main" id="{5C8B9DB8-6692-7142-C1E8-0C8655D324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5608" y="2227605"/>
            <a:ext cx="2238271" cy="2984363"/>
          </a:xfrm>
        </p:spPr>
      </p:pic>
      <p:pic>
        <p:nvPicPr>
          <p:cNvPr id="16" name="Grafik 15" descr="Ein Bild, das drinnen, grün enthält.&#10;&#10;Automatisch generierte Beschreibung">
            <a:extLst>
              <a:ext uri="{FF2B5EF4-FFF2-40B4-BE49-F238E27FC236}">
                <a16:creationId xmlns:a16="http://schemas.microsoft.com/office/drawing/2014/main" id="{09767BAF-E730-7668-E126-A0A2E02262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74366"/>
            <a:ext cx="4654458" cy="3490843"/>
          </a:xfrm>
          <a:prstGeom prst="rect">
            <a:avLst/>
          </a:prstGeom>
        </p:spPr>
      </p:pic>
      <p:sp>
        <p:nvSpPr>
          <p:cNvPr id="17" name="Inhaltsplatzhalter 2">
            <a:extLst>
              <a:ext uri="{FF2B5EF4-FFF2-40B4-BE49-F238E27FC236}">
                <a16:creationId xmlns:a16="http://schemas.microsoft.com/office/drawing/2014/main" id="{59CB4E0E-F53E-897C-18FD-5FD665CA5916}"/>
              </a:ext>
            </a:extLst>
          </p:cNvPr>
          <p:cNvSpPr txBox="1">
            <a:spLocks/>
          </p:cNvSpPr>
          <p:nvPr/>
        </p:nvSpPr>
        <p:spPr>
          <a:xfrm>
            <a:off x="8080241" y="1616765"/>
            <a:ext cx="3335034" cy="32206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>
                <a:solidFill>
                  <a:srgbClr val="0F1111"/>
                </a:solidFill>
                <a:latin typeface="Amazon Ember"/>
              </a:rPr>
              <a:t>Blattläuse</a:t>
            </a:r>
          </a:p>
          <a:p>
            <a:pPr lvl="1"/>
            <a:r>
              <a:rPr lang="de-DE" dirty="0">
                <a:solidFill>
                  <a:srgbClr val="0F1111"/>
                </a:solidFill>
                <a:latin typeface="Amazon Ember"/>
              </a:rPr>
              <a:t>Karate </a:t>
            </a:r>
            <a:r>
              <a:rPr lang="de-DE" dirty="0" err="1">
                <a:solidFill>
                  <a:srgbClr val="0F1111"/>
                </a:solidFill>
                <a:latin typeface="Amazon Ember"/>
              </a:rPr>
              <a:t>Zeon</a:t>
            </a:r>
            <a:r>
              <a:rPr lang="de-DE" dirty="0">
                <a:solidFill>
                  <a:srgbClr val="0F1111"/>
                </a:solidFill>
                <a:latin typeface="Amazon Ember"/>
              </a:rPr>
              <a:t> </a:t>
            </a:r>
            <a:r>
              <a:rPr lang="de-DE" dirty="0" err="1">
                <a:solidFill>
                  <a:srgbClr val="0F1111"/>
                </a:solidFill>
                <a:latin typeface="Amazon Ember"/>
              </a:rPr>
              <a:t>resistenz</a:t>
            </a:r>
            <a:endParaRPr lang="de-DE" dirty="0">
              <a:solidFill>
                <a:srgbClr val="0F1111"/>
              </a:solidFill>
              <a:latin typeface="Amazon Ember"/>
            </a:endParaRPr>
          </a:p>
          <a:p>
            <a:pPr lvl="1"/>
            <a:r>
              <a:rPr lang="de-DE" dirty="0" err="1">
                <a:solidFill>
                  <a:srgbClr val="0F1111"/>
                </a:solidFill>
                <a:latin typeface="Amazon Ember"/>
              </a:rPr>
              <a:t>Movento</a:t>
            </a:r>
            <a:r>
              <a:rPr lang="de-DE" dirty="0">
                <a:solidFill>
                  <a:srgbClr val="0F1111"/>
                </a:solidFill>
                <a:latin typeface="Amazon Ember"/>
              </a:rPr>
              <a:t> und </a:t>
            </a:r>
            <a:r>
              <a:rPr lang="de-DE" dirty="0" err="1">
                <a:solidFill>
                  <a:srgbClr val="0F1111"/>
                </a:solidFill>
                <a:latin typeface="Amazon Ember"/>
              </a:rPr>
              <a:t>Mosiplan</a:t>
            </a:r>
            <a:endParaRPr lang="de-DE" dirty="0">
              <a:solidFill>
                <a:srgbClr val="0F1111"/>
              </a:solidFill>
              <a:latin typeface="Amazon Ember"/>
            </a:endParaRPr>
          </a:p>
          <a:p>
            <a:r>
              <a:rPr lang="de-DE" dirty="0">
                <a:solidFill>
                  <a:srgbClr val="0F1111"/>
                </a:solidFill>
                <a:latin typeface="Amazon Ember"/>
              </a:rPr>
              <a:t>Nährstofflösung</a:t>
            </a:r>
          </a:p>
          <a:p>
            <a:pPr lvl="1"/>
            <a:r>
              <a:rPr lang="de-DE" dirty="0">
                <a:solidFill>
                  <a:srgbClr val="0F1111"/>
                </a:solidFill>
                <a:latin typeface="Amazon Ember"/>
              </a:rPr>
              <a:t>Wasser ansäuern</a:t>
            </a:r>
          </a:p>
          <a:p>
            <a:pPr lvl="1"/>
            <a:r>
              <a:rPr lang="de-DE" dirty="0">
                <a:solidFill>
                  <a:srgbClr val="0F1111"/>
                </a:solidFill>
                <a:latin typeface="Amazon Ember"/>
              </a:rPr>
              <a:t>anpassen</a:t>
            </a:r>
          </a:p>
          <a:p>
            <a:pPr lvl="1"/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20700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B7639D-8041-7F3E-427D-AEE0DCBCA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9256"/>
            <a:ext cx="10515600" cy="1325563"/>
          </a:xfrm>
        </p:spPr>
        <p:txBody>
          <a:bodyPr/>
          <a:lstStyle/>
          <a:p>
            <a:r>
              <a:rPr lang="de-DE" dirty="0"/>
              <a:t>Einbindung Regensensor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DCD97D1-26C4-72DD-5A3B-944B73DEFA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7314" y="2189162"/>
            <a:ext cx="5699539" cy="416718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de-DE" dirty="0"/>
          </a:p>
          <a:p>
            <a:r>
              <a:rPr lang="de-DE" dirty="0">
                <a:solidFill>
                  <a:srgbClr val="0F1111"/>
                </a:solidFill>
                <a:latin typeface="Amazon Ember"/>
              </a:rPr>
              <a:t>EMV Probleme</a:t>
            </a:r>
          </a:p>
          <a:p>
            <a:pPr lvl="1"/>
            <a:r>
              <a:rPr lang="de-DE" dirty="0">
                <a:solidFill>
                  <a:srgbClr val="0F1111"/>
                </a:solidFill>
                <a:latin typeface="Amazon Ember"/>
              </a:rPr>
              <a:t>Langes Kabel der Regensensoren</a:t>
            </a:r>
          </a:p>
          <a:p>
            <a:pPr lvl="1"/>
            <a:r>
              <a:rPr lang="de-DE" dirty="0">
                <a:solidFill>
                  <a:srgbClr val="0F1111"/>
                </a:solidFill>
                <a:latin typeface="Amazon Ember"/>
              </a:rPr>
              <a:t>Deep Sleep </a:t>
            </a:r>
            <a:r>
              <a:rPr lang="de-DE" dirty="0" err="1">
                <a:solidFill>
                  <a:srgbClr val="0F1111"/>
                </a:solidFill>
                <a:latin typeface="Amazon Ember"/>
              </a:rPr>
              <a:t>wakeup</a:t>
            </a:r>
            <a:endParaRPr lang="de-DE" dirty="0">
              <a:solidFill>
                <a:srgbClr val="0F1111"/>
              </a:solidFill>
              <a:latin typeface="Amazon Ember"/>
            </a:endParaRPr>
          </a:p>
          <a:p>
            <a:pPr lvl="1"/>
            <a:r>
              <a:rPr lang="de-DE" dirty="0">
                <a:solidFill>
                  <a:srgbClr val="0F1111"/>
                </a:solidFill>
                <a:latin typeface="Amazon Ember"/>
              </a:rPr>
              <a:t>100nF Puffer Kondensator und größerer Pull-Down 100k zu 10k</a:t>
            </a:r>
          </a:p>
          <a:p>
            <a:pPr lvl="1"/>
            <a:endParaRPr lang="de-DE" dirty="0">
              <a:solidFill>
                <a:srgbClr val="0F1111"/>
              </a:solidFill>
              <a:latin typeface="Amazon Ember"/>
            </a:endParaRPr>
          </a:p>
          <a:p>
            <a:pPr marL="0" indent="0">
              <a:buNone/>
            </a:pPr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DE102E8-A847-49D7-4218-745E24100E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5C802FAD-562E-4BE8-B850-EB01E0F3E0DB}" type="datetime1">
              <a:rPr lang="de-DE" smtClean="0"/>
              <a:t>12.01.2023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3A9927F-DDEC-2D65-F0A3-F80268A37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de-DE" dirty="0"/>
              <a:t>Ein </a:t>
            </a:r>
            <a:r>
              <a:rPr lang="de-DE" dirty="0" err="1"/>
              <a:t>Machine</a:t>
            </a:r>
            <a:r>
              <a:rPr lang="de-DE" dirty="0"/>
              <a:t> Learning basiertes Bewässerungssystem im geschützten Erdbeer-Anbau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513694-CBF0-9FB7-B0A4-9353C338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C073FD1-58EC-4DE9-9EA3-1DE3CC454F84}" type="slidenum">
              <a:rPr lang="de-DE" smtClean="0"/>
              <a:t>4</a:t>
            </a:fld>
            <a:endParaRPr lang="de-DE"/>
          </a:p>
        </p:txBody>
      </p:sp>
      <p:pic>
        <p:nvPicPr>
          <p:cNvPr id="7" name="Grafik 6" descr="Ein Bild, das Text enthält.&#10;&#10;Automatisch generierte Beschreibung">
            <a:extLst>
              <a:ext uri="{FF2B5EF4-FFF2-40B4-BE49-F238E27FC236}">
                <a16:creationId xmlns:a16="http://schemas.microsoft.com/office/drawing/2014/main" id="{715C8B99-72AA-7894-92BF-81B62012C09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91" t="22867" r="7435" b="15683"/>
          <a:stretch/>
        </p:blipFill>
        <p:spPr>
          <a:xfrm>
            <a:off x="892311" y="3430606"/>
            <a:ext cx="4114801" cy="2365356"/>
          </a:xfrm>
          <a:prstGeom prst="rect">
            <a:avLst/>
          </a:prstGeom>
        </p:spPr>
      </p:pic>
      <p:sp>
        <p:nvSpPr>
          <p:cNvPr id="8" name="AutoShape 2">
            <a:extLst>
              <a:ext uri="{FF2B5EF4-FFF2-40B4-BE49-F238E27FC236}">
                <a16:creationId xmlns:a16="http://schemas.microsoft.com/office/drawing/2014/main" id="{3A384BE5-5A77-334B-7B46-82C663124AF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pic>
        <p:nvPicPr>
          <p:cNvPr id="14" name="Grafik 13" descr="Ein Bild, das Text enthält.&#10;&#10;Automatisch generierte Beschreibung">
            <a:extLst>
              <a:ext uri="{FF2B5EF4-FFF2-40B4-BE49-F238E27FC236}">
                <a16:creationId xmlns:a16="http://schemas.microsoft.com/office/drawing/2014/main" id="{7A6FBC02-B992-8F35-FEDB-690FF1440D5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020" r="15815" b="31733"/>
          <a:stretch/>
        </p:blipFill>
        <p:spPr>
          <a:xfrm>
            <a:off x="892311" y="2067233"/>
            <a:ext cx="4583234" cy="1100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322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B7639D-8041-7F3E-427D-AEE0DCBCA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Netzwerk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DCD97D1-26C4-72DD-5A3B-944B73DEFA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0468" y="1511040"/>
            <a:ext cx="10515599" cy="416718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de-DE" dirty="0"/>
          </a:p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DE102E8-A847-49D7-4218-745E24100E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5C802FAD-562E-4BE8-B850-EB01E0F3E0DB}" type="datetime1">
              <a:rPr lang="de-DE" smtClean="0"/>
              <a:t>12.01.2023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3A9927F-DDEC-2D65-F0A3-F80268A37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de-DE" dirty="0"/>
              <a:t>Ein </a:t>
            </a:r>
            <a:r>
              <a:rPr lang="de-DE" dirty="0" err="1"/>
              <a:t>Machine</a:t>
            </a:r>
            <a:r>
              <a:rPr lang="de-DE" dirty="0"/>
              <a:t> Learning basiertes Bewässerungssystem im geschützten Erdbeer-Anbau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513694-CBF0-9FB7-B0A4-9353C338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C073FD1-58EC-4DE9-9EA3-1DE3CC454F84}" type="slidenum">
              <a:rPr lang="de-DE" smtClean="0"/>
              <a:t>5</a:t>
            </a:fld>
            <a:endParaRPr lang="de-DE"/>
          </a:p>
        </p:txBody>
      </p:sp>
      <p:pic>
        <p:nvPicPr>
          <p:cNvPr id="2052" name="Picture 4" descr="Bildergebnis für node red">
            <a:extLst>
              <a:ext uri="{FF2B5EF4-FFF2-40B4-BE49-F238E27FC236}">
                <a16:creationId xmlns:a16="http://schemas.microsoft.com/office/drawing/2014/main" id="{DEFDF74B-C3FF-93D2-B804-868D331E36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7316" y="3392904"/>
            <a:ext cx="1037121" cy="1037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Steps to Setup InfluxDB on Windows">
            <a:extLst>
              <a:ext uri="{FF2B5EF4-FFF2-40B4-BE49-F238E27FC236}">
                <a16:creationId xmlns:a16="http://schemas.microsoft.com/office/drawing/2014/main" id="{F524B0CE-8A67-45CA-F5E6-E0176EE4F2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12" t="26874" r="28400" b="24934"/>
          <a:stretch/>
        </p:blipFill>
        <p:spPr bwMode="auto">
          <a:xfrm>
            <a:off x="9403836" y="3294645"/>
            <a:ext cx="1827696" cy="1213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The Things Network – Wikipedia">
            <a:extLst>
              <a:ext uri="{FF2B5EF4-FFF2-40B4-BE49-F238E27FC236}">
                <a16:creationId xmlns:a16="http://schemas.microsoft.com/office/drawing/2014/main" id="{06CFB38B-3F37-F7A8-F274-196B04C61F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6901" y="296798"/>
            <a:ext cx="1839843" cy="1839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Sensor - Kostenlose sicherheit Icons">
            <a:extLst>
              <a:ext uri="{FF2B5EF4-FFF2-40B4-BE49-F238E27FC236}">
                <a16:creationId xmlns:a16="http://schemas.microsoft.com/office/drawing/2014/main" id="{508EEFA1-50DC-7F0F-2E26-60261D01EF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8094" y="3717084"/>
            <a:ext cx="489761" cy="489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Technology Stack – The Things Network">
            <a:extLst>
              <a:ext uri="{FF2B5EF4-FFF2-40B4-BE49-F238E27FC236}">
                <a16:creationId xmlns:a16="http://schemas.microsoft.com/office/drawing/2014/main" id="{870E9055-4170-E20F-E8EF-6E6B3952250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936" r="26042" b="18629"/>
          <a:stretch/>
        </p:blipFill>
        <p:spPr bwMode="auto">
          <a:xfrm>
            <a:off x="2519131" y="1830575"/>
            <a:ext cx="4412792" cy="2928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94A618F4-C686-AF57-8392-20825EC5DE73}"/>
              </a:ext>
            </a:extLst>
          </p:cNvPr>
          <p:cNvSpPr/>
          <p:nvPr/>
        </p:nvSpPr>
        <p:spPr>
          <a:xfrm>
            <a:off x="5942781" y="2619641"/>
            <a:ext cx="989142" cy="60656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MQTT-Server</a:t>
            </a:r>
          </a:p>
        </p:txBody>
      </p: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09259D2C-BC1A-4686-1DB1-041BAEBD93FF}"/>
              </a:ext>
            </a:extLst>
          </p:cNvPr>
          <p:cNvCxnSpPr>
            <a:cxnSpLocks/>
            <a:stCxn id="11" idx="3"/>
            <a:endCxn id="2052" idx="1"/>
          </p:cNvCxnSpPr>
          <p:nvPr/>
        </p:nvCxnSpPr>
        <p:spPr>
          <a:xfrm>
            <a:off x="6931923" y="2922922"/>
            <a:ext cx="755393" cy="98854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85FB1F49-4129-C6F3-7733-4BD3BBC1F8F9}"/>
              </a:ext>
            </a:extLst>
          </p:cNvPr>
          <p:cNvCxnSpPr>
            <a:cxnSpLocks/>
            <a:stCxn id="2052" idx="3"/>
            <a:endCxn id="2056" idx="1"/>
          </p:cNvCxnSpPr>
          <p:nvPr/>
        </p:nvCxnSpPr>
        <p:spPr>
          <a:xfrm flipV="1">
            <a:off x="8724437" y="3901453"/>
            <a:ext cx="679399" cy="1001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1" name="Ellipse 20">
            <a:extLst>
              <a:ext uri="{FF2B5EF4-FFF2-40B4-BE49-F238E27FC236}">
                <a16:creationId xmlns:a16="http://schemas.microsoft.com/office/drawing/2014/main" id="{2BF4C430-50FC-AB2A-0A09-CC19F304447A}"/>
              </a:ext>
            </a:extLst>
          </p:cNvPr>
          <p:cNvSpPr/>
          <p:nvPr/>
        </p:nvSpPr>
        <p:spPr>
          <a:xfrm>
            <a:off x="2762822" y="3961964"/>
            <a:ext cx="439540" cy="546297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5A65AAB1-934F-8102-6FDE-B2204ED78E44}"/>
              </a:ext>
            </a:extLst>
          </p:cNvPr>
          <p:cNvSpPr/>
          <p:nvPr/>
        </p:nvSpPr>
        <p:spPr>
          <a:xfrm>
            <a:off x="2676575" y="3304048"/>
            <a:ext cx="439540" cy="546297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83888C5A-A11A-91AE-F23F-3B8015C40971}"/>
              </a:ext>
            </a:extLst>
          </p:cNvPr>
          <p:cNvCxnSpPr>
            <a:cxnSpLocks/>
            <a:stCxn id="2060" idx="3"/>
          </p:cNvCxnSpPr>
          <p:nvPr/>
        </p:nvCxnSpPr>
        <p:spPr>
          <a:xfrm flipV="1">
            <a:off x="2257855" y="3961964"/>
            <a:ext cx="885317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34011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B7639D-8041-7F3E-427D-AEE0DCBCA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Fragen: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DCD97D1-26C4-72DD-5A3B-944B73DEFA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4770" y="1511040"/>
            <a:ext cx="10515599" cy="416718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de-DE" dirty="0"/>
          </a:p>
          <a:p>
            <a:r>
              <a:rPr lang="de-DE" dirty="0"/>
              <a:t>Prüfungsleistung Research Management</a:t>
            </a:r>
          </a:p>
          <a:p>
            <a:r>
              <a:rPr lang="de-DE" dirty="0"/>
              <a:t>Internetzugang</a:t>
            </a:r>
          </a:p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DE102E8-A847-49D7-4218-745E24100E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5C802FAD-562E-4BE8-B850-EB01E0F3E0DB}" type="datetime1">
              <a:rPr lang="de-DE" smtClean="0"/>
              <a:t>12.01.2023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3A9927F-DDEC-2D65-F0A3-F80268A37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de-DE" dirty="0"/>
              <a:t>Ein </a:t>
            </a:r>
            <a:r>
              <a:rPr lang="de-DE" dirty="0" err="1"/>
              <a:t>Machine</a:t>
            </a:r>
            <a:r>
              <a:rPr lang="de-DE" dirty="0"/>
              <a:t> Learning basiertes Bewässerungssystem im geschützten Erdbeer-Anbau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513694-CBF0-9FB7-B0A4-9353C338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C073FD1-58EC-4DE9-9EA3-1DE3CC454F84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996131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B7639D-8041-7F3E-427D-AEE0DCBCA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Kommende Arbeitspakete: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DCD97D1-26C4-72DD-5A3B-944B73DEFA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4770" y="1511040"/>
            <a:ext cx="10515599" cy="4167188"/>
          </a:xfrm>
        </p:spPr>
        <p:txBody>
          <a:bodyPr>
            <a:normAutofit/>
          </a:bodyPr>
          <a:lstStyle/>
          <a:p>
            <a:endParaRPr lang="de-DE" dirty="0"/>
          </a:p>
          <a:p>
            <a:r>
              <a:rPr lang="de-DE" dirty="0"/>
              <a:t>Weiterer Sensor-Nodes bauen</a:t>
            </a:r>
          </a:p>
          <a:p>
            <a:r>
              <a:rPr lang="de-DE" dirty="0"/>
              <a:t>Weitere Einarbeitung in </a:t>
            </a:r>
            <a:r>
              <a:rPr lang="de-DE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Einarbeitung Reinforcement Learning</a:t>
            </a:r>
          </a:p>
          <a:p>
            <a:pPr marL="0" indent="0">
              <a:buNone/>
            </a:pP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DE102E8-A847-49D7-4218-745E24100E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5C802FAD-562E-4BE8-B850-EB01E0F3E0DB}" type="datetime1">
              <a:rPr lang="de-DE" smtClean="0"/>
              <a:t>12.01.2023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3A9927F-DDEC-2D65-F0A3-F80268A37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de-DE" dirty="0"/>
              <a:t>Ein </a:t>
            </a:r>
            <a:r>
              <a:rPr lang="de-DE" dirty="0" err="1"/>
              <a:t>Machine</a:t>
            </a:r>
            <a:r>
              <a:rPr lang="de-DE" dirty="0"/>
              <a:t> Learning basiertes Bewässerungssystem im geschützten Erdbeer-Anbau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513694-CBF0-9FB7-B0A4-9353C338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C073FD1-58EC-4DE9-9EA3-1DE3CC454F84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909123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B7639D-8041-7F3E-427D-AEE0DCBCA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Arbeitspakete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DE102E8-A847-49D7-4218-745E24100E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5C802FAD-562E-4BE8-B850-EB01E0F3E0DB}" type="datetime1">
              <a:rPr lang="de-DE" smtClean="0"/>
              <a:t>12.01.2023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3A9927F-DDEC-2D65-F0A3-F80268A37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de-DE" dirty="0"/>
              <a:t>Ein </a:t>
            </a:r>
            <a:r>
              <a:rPr lang="de-DE" dirty="0" err="1"/>
              <a:t>Machine</a:t>
            </a:r>
            <a:r>
              <a:rPr lang="de-DE" dirty="0"/>
              <a:t> Learning basiertes Bewässerungssystem im geschützten Erdbeer-Anbau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513694-CBF0-9FB7-B0A4-9353C338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C073FD1-58EC-4DE9-9EA3-1DE3CC454F84}" type="slidenum">
              <a:rPr lang="de-DE" smtClean="0"/>
              <a:t>8</a:t>
            </a:fld>
            <a:endParaRPr lang="de-DE"/>
          </a:p>
        </p:txBody>
      </p:sp>
      <p:graphicFrame>
        <p:nvGraphicFramePr>
          <p:cNvPr id="10" name="Tabelle 9">
            <a:extLst>
              <a:ext uri="{FF2B5EF4-FFF2-40B4-BE49-F238E27FC236}">
                <a16:creationId xmlns:a16="http://schemas.microsoft.com/office/drawing/2014/main" id="{40F6807C-803E-54FB-7361-0E6C391F89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4072483"/>
              </p:ext>
            </p:extLst>
          </p:nvPr>
        </p:nvGraphicFramePr>
        <p:xfrm>
          <a:off x="838193" y="2932311"/>
          <a:ext cx="10515615" cy="2137966"/>
        </p:xfrm>
        <a:graphic>
          <a:graphicData uri="http://schemas.openxmlformats.org/drawingml/2006/table">
            <a:tbl>
              <a:tblPr/>
              <a:tblGrid>
                <a:gridCol w="1858178">
                  <a:extLst>
                    <a:ext uri="{9D8B030D-6E8A-4147-A177-3AD203B41FA5}">
                      <a16:colId xmlns:a16="http://schemas.microsoft.com/office/drawing/2014/main" val="1578173552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1291484271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1691060755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794980751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289369632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3065986714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3204779573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2120938588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3288755758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2619307106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4142890014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2332031188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2552433872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2534754929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3458237603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1218115382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3623281439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413962695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3422533160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3371512862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866436160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1096918529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60831407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248633255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997852066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3035638828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2874875308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1019460280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1353732066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3913441435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1586228314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3346609739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591233202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3279128689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3917803301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3347258559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3623063497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2720958568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2718695919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840337411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4084052531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3803479271"/>
                    </a:ext>
                  </a:extLst>
                </a:gridCol>
              </a:tblGrid>
              <a:tr h="453987"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Arbeitspakete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24. Okt.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31. Okt.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 Nov.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14. Nov.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21. Nov.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28. Nov.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 Dez.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12. Dez.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19. Dez.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26. Dez.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 Jan.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</a:rPr>
                        <a:t>9. Jan.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 Jan.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23. Jan.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30. Jan.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 Feb.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 Feb.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20. Feb.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27. Feb.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 Mrz.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 Mrz.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20. Mrz.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27. Mrz.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 Apr.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 Apr.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 Apr.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24. Apr.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 Mai.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 Mai.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15. Mai.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22. Mai.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29. Mai.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 Jun.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12. Jun.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19. Jun.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26. Jun.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 Jul.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 Jul.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 Jul.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24. Jul.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31. Jul.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5173716"/>
                  </a:ext>
                </a:extLst>
              </a:tr>
              <a:tr h="153089"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Integration Wassersensor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254979"/>
                  </a:ext>
                </a:extLst>
              </a:tr>
              <a:tr h="153089"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Integration EC-Sensor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8980540"/>
                  </a:ext>
                </a:extLst>
              </a:tr>
              <a:tr h="153089"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Einarbeitung Reinforcement Learning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3053541"/>
                  </a:ext>
                </a:extLst>
              </a:tr>
              <a:tr h="153089"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Aufbau/Kauf Gewächshaus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6337182"/>
                  </a:ext>
                </a:extLst>
              </a:tr>
              <a:tr h="153089"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Messungen HHN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843378"/>
                  </a:ext>
                </a:extLst>
              </a:tr>
              <a:tr h="153089"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Training Modell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 dirty="0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1971730"/>
                  </a:ext>
                </a:extLst>
              </a:tr>
              <a:tr h="153089"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Integration/Validierung Modell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0906231"/>
                  </a:ext>
                </a:extLst>
              </a:tr>
              <a:tr h="153089"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Messungen Betrieb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0322786"/>
                  </a:ext>
                </a:extLst>
              </a:tr>
              <a:tr h="153089"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weiteres Training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2195026"/>
                  </a:ext>
                </a:extLst>
              </a:tr>
              <a:tr h="153089"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weitere Integration/Validierung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9148875"/>
                  </a:ext>
                </a:extLst>
              </a:tr>
              <a:tr h="153089"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Dokumentation/Meetings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6736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55071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801</Words>
  <Application>Microsoft Office PowerPoint</Application>
  <PresentationFormat>Breitbild</PresentationFormat>
  <Paragraphs>558</Paragraphs>
  <Slides>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3" baseType="lpstr">
      <vt:lpstr>Amazon Ember</vt:lpstr>
      <vt:lpstr>Arial</vt:lpstr>
      <vt:lpstr>Calibri</vt:lpstr>
      <vt:lpstr>Calibri Light</vt:lpstr>
      <vt:lpstr>Office</vt:lpstr>
      <vt:lpstr>Ein Machine Learning basiertes Bewässerungssystem im geschützten Erdbeer-Anbau</vt:lpstr>
      <vt:lpstr>Projektziel</vt:lpstr>
      <vt:lpstr>Gewächshaus</vt:lpstr>
      <vt:lpstr>Einbindung Regensensor</vt:lpstr>
      <vt:lpstr>Netzwerk</vt:lpstr>
      <vt:lpstr>Fragen:</vt:lpstr>
      <vt:lpstr>Kommende Arbeitspakete:</vt:lpstr>
      <vt:lpstr>Arbeitspakete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Ein Machine Learning basiertes Bewässerungssystem im geschützten Erdbeer-Anbau</dc:title>
  <dc:creator>Nils Boehringer</dc:creator>
  <cp:lastModifiedBy>Nils Böhringer</cp:lastModifiedBy>
  <cp:revision>13</cp:revision>
  <dcterms:created xsi:type="dcterms:W3CDTF">2022-10-13T03:57:49Z</dcterms:created>
  <dcterms:modified xsi:type="dcterms:W3CDTF">2023-01-12T13:22:23Z</dcterms:modified>
</cp:coreProperties>
</file>