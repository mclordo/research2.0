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85" r:id="rId3"/>
    <p:sldId id="286" r:id="rId4"/>
    <p:sldId id="261" r:id="rId5"/>
    <p:sldId id="287" r:id="rId6"/>
    <p:sldId id="269" r:id="rId7"/>
    <p:sldId id="270" r:id="rId8"/>
    <p:sldId id="271" r:id="rId9"/>
    <p:sldId id="274" r:id="rId10"/>
    <p:sldId id="275" r:id="rId11"/>
    <p:sldId id="272" r:id="rId12"/>
    <p:sldId id="278" r:id="rId13"/>
    <p:sldId id="281" r:id="rId14"/>
    <p:sldId id="288" r:id="rId15"/>
    <p:sldId id="291" r:id="rId16"/>
    <p:sldId id="289" r:id="rId17"/>
    <p:sldId id="292" r:id="rId18"/>
    <p:sldId id="293" r:id="rId19"/>
    <p:sldId id="284" r:id="rId2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693C2C4B-A545-487A-89F6-73F9896EBE16}">
          <p14:sldIdLst>
            <p14:sldId id="256"/>
            <p14:sldId id="285"/>
            <p14:sldId id="286"/>
            <p14:sldId id="261"/>
            <p14:sldId id="287"/>
            <p14:sldId id="269"/>
            <p14:sldId id="270"/>
            <p14:sldId id="271"/>
            <p14:sldId id="274"/>
            <p14:sldId id="275"/>
            <p14:sldId id="272"/>
            <p14:sldId id="278"/>
            <p14:sldId id="281"/>
            <p14:sldId id="288"/>
            <p14:sldId id="291"/>
            <p14:sldId id="289"/>
            <p14:sldId id="292"/>
            <p14:sldId id="293"/>
          </p14:sldIdLst>
        </p14:section>
        <p14:section name="Abschnitt ohne Titel" id="{E2300CCA-B403-4A86-96FD-044B60BE1CFC}">
          <p14:sldIdLst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82" d="100"/>
          <a:sy n="82" d="100"/>
        </p:scale>
        <p:origin x="629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82122C-B220-4F58-92AC-CB03A2B05921}" type="datetimeFigureOut">
              <a:rPr lang="de-DE" smtClean="0"/>
              <a:t>12.06.2026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56A700-4FA0-4818-BD74-899CA6AF7A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944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F88FAE-25FD-9A2F-FDA3-3F66E241BC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6101050-111D-9EF5-6345-37278DE819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B21888-197F-5FE0-A437-BAA886FB2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1ABAC-DE6B-4D61-8D5A-8D0075535459}" type="datetime1">
              <a:rPr lang="de-DE" smtClean="0"/>
              <a:t>12.06.2026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FA475FA-51AC-188D-D1DF-BC5C0D642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82C95F-32C8-8F1D-7791-80F239B29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8676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C30E08-FC7C-A0FB-8227-C3364F453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21C22FA-9569-022A-5116-FF64900C3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FACDCA-FEC2-541E-E5A3-CD9FDD9CA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1651B-F1FD-46A0-8AD9-AAD61D170A5B}" type="datetime1">
              <a:rPr lang="de-DE" smtClean="0"/>
              <a:t>12.06.2026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D26C97-D8E7-9AB0-2F46-BD20CAA7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D7CA2DF-D65A-61A8-B375-82C31BFCC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7937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46EB1C-ECBE-6DC5-3D52-3CF0C0D02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98B53F-46B2-A2A9-AFE0-257442E0B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24F9BE-1F9F-9493-DEC7-0A2D26412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AA068-BF92-40C0-9326-D6673C824308}" type="datetime1">
              <a:rPr lang="de-DE" smtClean="0"/>
              <a:t>12.06.2026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9D9049C-2331-2BC0-22FF-91DED9EEA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641DFD2-19C3-843E-34E3-F1909C49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6453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A44443-A923-DBB1-1408-A652FBDAA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14772E6-6E13-E561-EF58-C7C18C00C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8C53BD-2FB9-972D-9D04-5B315CF3A9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6C72576-AF91-8ABB-0233-9168A1121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4398C-A71D-47CC-8010-3AFD1F8806D0}" type="datetime1">
              <a:rPr lang="de-DE" smtClean="0"/>
              <a:t>12.06.2026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9E2F1CB-5943-982B-D36D-A4BA6F2AD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7068C72-E0F2-6B69-C189-8119CE069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8443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A487BF-8C51-537C-8936-E2E7F29DA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2C064F5-F32A-B1B0-0449-D2B68A2F1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4B4CE91-ECB7-0726-DB9A-9F390F9A81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8DDEC7C-1C33-462B-A4F9-1A548FF97E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33CF77E-3AB1-E3CF-79B1-E1CF77C1BB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387EA39-037B-BB24-9DAB-4934CB974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63996-DF54-4218-B929-6522D9782500}" type="datetime1">
              <a:rPr lang="de-DE" smtClean="0"/>
              <a:t>12.06.2026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8376A6A-22E1-10DF-4DDC-88E2ABD7F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F15F3AC-E465-A50A-F219-AA0CB47E9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4119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2F36A9-BFE5-27A4-96DE-2BAB910A9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7AD8C0E-9EA7-FA82-A7D1-CCB00E8E0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F574C-9695-42A5-8F1C-047F275C8A3E}" type="datetime1">
              <a:rPr lang="de-DE" smtClean="0"/>
              <a:t>12.06.2026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8C56693-EA35-61FC-D5CB-33FBA780B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90F88D0-EB97-BF1F-BB0A-03A623C2B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5567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A3A5EE4-AA48-2408-D8F3-85C265BAF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C0275-25B9-42C3-B390-76F94EC80C31}" type="datetime1">
              <a:rPr lang="de-DE" smtClean="0"/>
              <a:t>12.06.2026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BD76DD2-C788-6BC8-5885-F9ABAEE61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159A1B-7C8C-F077-94B6-6FCC25744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4545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7EB11B-986A-B128-5A20-C43C0037E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A88E5BB-8224-A693-E9B1-FFB290B53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B07AA37-745B-701C-FB09-5121CED333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6432B1A-A5EC-0249-F32E-2731F1591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A4015-1311-463A-94C6-6ECFF7209A7E}" type="datetime1">
              <a:rPr lang="de-DE" smtClean="0"/>
              <a:t>12.06.2026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68AC52F-3CD8-3A14-E007-B3AFE8AD3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BA5FC27-DE4F-9F4A-62FD-D26028DF1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465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77299B-234D-44BC-DBBA-D12309479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D300FC7-2079-F991-EEFF-86EF7B7169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A2ED1AC-DDF1-414B-122D-2FFBD3A504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89A04B4-02BD-55B1-21E2-F6E7EBD15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62F84-34EB-4667-BED8-55E1E577FFF3}" type="datetime1">
              <a:rPr lang="de-DE" smtClean="0"/>
              <a:t>12.06.2026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8846DD1-34C7-EBAB-0B7C-695E0B69E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01E90D7-E646-5DBE-FAE3-6E64C5924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7792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A5625C-DF05-2FD7-0371-92B8857FE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ABB88F1-A6DA-B4BF-5A3B-9E2F65136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5ED2672-EBA6-473F-9D27-36D985F86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C4100-0209-432A-AB6F-26EC97E255DA}" type="datetime1">
              <a:rPr lang="de-DE" smtClean="0"/>
              <a:t>12.06.2026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FD58A4-66CD-3D05-E905-D1840039C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D855482-8A8E-405F-7DB3-419CA50F9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7162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061B0F9-62D2-E99B-C8E0-EA535738D9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5334B5E-C661-D80D-F815-17EC572D16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1A18AF6-88F1-D4FA-5CBC-5B90DB03F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5F685-D570-44CB-BB14-614A15D27D57}" type="datetime1">
              <a:rPr lang="de-DE" smtClean="0"/>
              <a:t>12.06.2026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05D5D59-965E-1FD7-161F-4203935E5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91C36F-029B-FC3E-FA29-46A333FB8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6478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039FBDF-8E86-AED3-3183-EF0A81B02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8457C92-F592-BFEA-FD24-5E1A3556F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E293E1-9ECC-4325-962E-AFBB96343B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0BDAA-D95C-4DF7-81FF-D3EEA2CA6C4B}" type="datetime1">
              <a:rPr lang="de-DE" smtClean="0"/>
              <a:t>12.06.2026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BABC50-2E0B-6BE2-9755-C2684FEEC9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19F63A5-4F86-60C4-69CD-BB503D8462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631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axis-agrar.de/pflanze/gartenbau/erdbeeren-im-geschuetzten-anbau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487721-8B38-5C01-7014-034977E4A4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0725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547A926-9149-A395-6438-A4858C355C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928"/>
            <a:ext cx="9144000" cy="1655762"/>
          </a:xfrm>
        </p:spPr>
        <p:txBody>
          <a:bodyPr/>
          <a:lstStyle/>
          <a:p>
            <a:endParaRPr lang="de-DE" dirty="0"/>
          </a:p>
          <a:p>
            <a:r>
              <a:rPr lang="de-DE" dirty="0"/>
              <a:t>Nils Böhringer, Pascal Graf, Nicolaj C. Stache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DE1618-97B5-E895-B1FB-F5FD43B1C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BEC7-7C91-4A32-AD23-855DCE49B439}" type="datetime1">
              <a:rPr lang="de-DE" smtClean="0"/>
              <a:t>12.06.2026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1E08B8A-2103-7D71-3C61-7BF7733B7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7D4C9A1-7592-C53D-80DC-EB76F57DB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9924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F24D09-3056-52F5-1E89-BC4A9E281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9098A97-D1D2-719E-F479-ABADEDBF11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Motivation &amp; Problemstellung</a:t>
            </a:r>
          </a:p>
          <a:p>
            <a:r>
              <a:rPr lang="de-DE" dirty="0"/>
              <a:t>Methodik</a:t>
            </a:r>
          </a:p>
          <a:p>
            <a:pPr lvl="1"/>
            <a:r>
              <a:rPr lang="de-DE" dirty="0"/>
              <a:t>Datenaufzeichnung</a:t>
            </a:r>
          </a:p>
          <a:p>
            <a:pPr lvl="1"/>
            <a:r>
              <a:rPr lang="de-DE" dirty="0"/>
              <a:t>Drain-Modell</a:t>
            </a:r>
          </a:p>
          <a:p>
            <a:pPr lvl="1"/>
            <a:r>
              <a:rPr lang="de-DE" dirty="0"/>
              <a:t>Training</a:t>
            </a:r>
          </a:p>
          <a:p>
            <a:r>
              <a:rPr lang="de-DE" dirty="0"/>
              <a:t>Ergebnisse</a:t>
            </a:r>
          </a:p>
          <a:p>
            <a:pPr lvl="1"/>
            <a:r>
              <a:rPr lang="de-DE" dirty="0"/>
              <a:t>Modell</a:t>
            </a:r>
          </a:p>
          <a:p>
            <a:pPr lvl="1"/>
            <a:r>
              <a:rPr lang="de-DE" dirty="0"/>
              <a:t>Training</a:t>
            </a:r>
          </a:p>
          <a:p>
            <a:r>
              <a:rPr lang="de-DE" dirty="0"/>
              <a:t>Diskussion &amp; Fazit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CD24B90-3BD7-0CBE-8F29-504AB2703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1651B-F1FD-46A0-8AD9-AAD61D170A5B}" type="datetime1">
              <a:rPr lang="de-DE" smtClean="0"/>
              <a:t>12.06.2026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DD34C0A-C460-F9EB-5985-9375C4CAE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3B2078E-31BF-20E2-B8FD-7B599DA97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166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6779E1-B9C7-27C2-E14B-BF0635D4B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Motivation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653690F-9AF8-4DF4-FC67-4B49AF977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1651B-F1FD-46A0-8AD9-AAD61D170A5B}" type="datetime1">
              <a:rPr lang="de-DE" smtClean="0"/>
              <a:t>12.06.2026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770C01F-F995-5862-4F64-D65EA3F2B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E9A2FB4-6AF7-DF82-9D71-57A72E056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3</a:t>
            </a:fld>
            <a:endParaRPr lang="de-DE"/>
          </a:p>
        </p:txBody>
      </p:sp>
      <p:pic>
        <p:nvPicPr>
          <p:cNvPr id="2050" name="Picture 2" descr="Erdbeeren im geschützten Anbau mit Blick auf die Wassereinsparung:  Praxis-Agrar">
            <a:extLst>
              <a:ext uri="{FF2B5EF4-FFF2-40B4-BE49-F238E27FC236}">
                <a16:creationId xmlns:a16="http://schemas.microsoft.com/office/drawing/2014/main" id="{9028A3A4-DA44-26AC-AABE-EC6F4FCAB2C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6974" y="1819035"/>
            <a:ext cx="5080789" cy="2857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3AB6AE70-3D54-F4B4-F268-524469024105}"/>
              </a:ext>
            </a:extLst>
          </p:cNvPr>
          <p:cNvSpPr txBox="1"/>
          <p:nvPr/>
        </p:nvSpPr>
        <p:spPr>
          <a:xfrm>
            <a:off x="6384438" y="4676980"/>
            <a:ext cx="393264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dirty="0">
                <a:hlinkClick r:id="rId3"/>
              </a:rPr>
              <a:t>https://www.praxis-agrar.de/pflanze/gartenbau/erdbeeren-im-geschuetzten-anbau</a:t>
            </a:r>
            <a:endParaRPr lang="de-DE" sz="800" dirty="0"/>
          </a:p>
          <a:p>
            <a:endParaRPr lang="de-DE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CDEBB907-DC81-33FE-A431-EC9DF1A2D56E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4102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Geschützter Anbau</a:t>
            </a:r>
          </a:p>
          <a:p>
            <a:pPr lvl="1"/>
            <a:r>
              <a:rPr lang="de-DE" dirty="0"/>
              <a:t>Zunehmende Verlagerung vom Freiland in den geschützten Anbau</a:t>
            </a:r>
          </a:p>
          <a:p>
            <a:pPr lvl="1"/>
            <a:r>
              <a:rPr lang="de-DE" dirty="0"/>
              <a:t>Schutz vor Extremwetterereignissen</a:t>
            </a:r>
          </a:p>
          <a:p>
            <a:pPr lvl="1"/>
            <a:r>
              <a:rPr lang="de-DE" dirty="0"/>
              <a:t>Effizientere Nutzung der Ressource Wasser</a:t>
            </a:r>
          </a:p>
          <a:p>
            <a:r>
              <a:rPr lang="de-DE" dirty="0"/>
              <a:t>Bewässerung</a:t>
            </a:r>
          </a:p>
          <a:p>
            <a:pPr lvl="1"/>
            <a:r>
              <a:rPr lang="de-DE" dirty="0"/>
              <a:t>Lichtsummensteuerung</a:t>
            </a:r>
          </a:p>
          <a:p>
            <a:pPr lvl="1"/>
            <a:r>
              <a:rPr lang="de-DE" dirty="0"/>
              <a:t>Anfällig für Abweichungen; konstante manuelle Nachregelung durch Fachkraft erforderlich</a:t>
            </a:r>
          </a:p>
        </p:txBody>
      </p:sp>
    </p:spTree>
    <p:extLst>
      <p:ext uri="{BB962C8B-B14F-4D97-AF65-F5344CB8AC3E}">
        <p14:creationId xmlns:p14="http://schemas.microsoft.com/office/powerpoint/2010/main" val="3364158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Projektziel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CD97D1-26C4-72DD-5A3B-944B73DEF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de-DE" dirty="0"/>
              <a:t>Implementierung eines </a:t>
            </a:r>
            <a:r>
              <a:rPr lang="de-DE" dirty="0" err="1"/>
              <a:t>Machine</a:t>
            </a:r>
            <a:r>
              <a:rPr lang="de-DE"/>
              <a:t> Learning-Algorithmus</a:t>
            </a:r>
            <a:r>
              <a:rPr lang="de-DE" dirty="0"/>
              <a:t>, der auf Basis der Drain einer Erdbeer-Substratkultur Bewässerungszeitpunkte bestimmt.</a:t>
            </a:r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DBF7098-8EDB-4516-944A-9630D940D974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4</a:t>
            </a:fld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9BDE27D-7220-0E5E-3B8D-0DA279599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29" y="3429000"/>
            <a:ext cx="2976360" cy="223227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024A3C48-18BE-B349-2A9D-75D7789A9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1521" y="3918891"/>
            <a:ext cx="2377552" cy="12524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Pfeil: nach rechts 12">
            <a:extLst>
              <a:ext uri="{FF2B5EF4-FFF2-40B4-BE49-F238E27FC236}">
                <a16:creationId xmlns:a16="http://schemas.microsoft.com/office/drawing/2014/main" id="{7B25F19E-927C-DA01-3F1B-1E00DF096B91}"/>
              </a:ext>
            </a:extLst>
          </p:cNvPr>
          <p:cNvSpPr/>
          <p:nvPr/>
        </p:nvSpPr>
        <p:spPr>
          <a:xfrm>
            <a:off x="4506794" y="4475401"/>
            <a:ext cx="347636" cy="1406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A074FC76-6784-7D0D-247C-55B14CD2BEC0}"/>
              </a:ext>
            </a:extLst>
          </p:cNvPr>
          <p:cNvSpPr/>
          <p:nvPr/>
        </p:nvSpPr>
        <p:spPr>
          <a:xfrm>
            <a:off x="4952335" y="4100009"/>
            <a:ext cx="1106147" cy="8673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err="1"/>
              <a:t>LoRa</a:t>
            </a:r>
            <a:r>
              <a:rPr lang="de-DE" dirty="0"/>
              <a:t> Sensor </a:t>
            </a:r>
            <a:r>
              <a:rPr lang="de-DE" dirty="0" err="1"/>
              <a:t>Node</a:t>
            </a:r>
            <a:endParaRPr lang="de-DE" dirty="0"/>
          </a:p>
        </p:txBody>
      </p:sp>
      <p:sp>
        <p:nvSpPr>
          <p:cNvPr id="16" name="Pfeil: nach rechts 15">
            <a:extLst>
              <a:ext uri="{FF2B5EF4-FFF2-40B4-BE49-F238E27FC236}">
                <a16:creationId xmlns:a16="http://schemas.microsoft.com/office/drawing/2014/main" id="{14977348-695B-F84C-C10F-B13DDB4D35D1}"/>
              </a:ext>
            </a:extLst>
          </p:cNvPr>
          <p:cNvSpPr/>
          <p:nvPr/>
        </p:nvSpPr>
        <p:spPr>
          <a:xfrm>
            <a:off x="6156387" y="4474798"/>
            <a:ext cx="347636" cy="1406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C63B17CB-A56A-011F-F8C9-73CD2D7ABEA6}"/>
              </a:ext>
            </a:extLst>
          </p:cNvPr>
          <p:cNvSpPr/>
          <p:nvPr/>
        </p:nvSpPr>
        <p:spPr>
          <a:xfrm>
            <a:off x="6601928" y="4111479"/>
            <a:ext cx="1106147" cy="8673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ML </a:t>
            </a:r>
            <a:r>
              <a:rPr lang="de-DE" dirty="0" err="1"/>
              <a:t>Algorit-hmus</a:t>
            </a:r>
            <a:endParaRPr lang="de-DE" dirty="0"/>
          </a:p>
        </p:txBody>
      </p:sp>
      <p:sp>
        <p:nvSpPr>
          <p:cNvPr id="18" name="Pfeil: nach rechts 17">
            <a:extLst>
              <a:ext uri="{FF2B5EF4-FFF2-40B4-BE49-F238E27FC236}">
                <a16:creationId xmlns:a16="http://schemas.microsoft.com/office/drawing/2014/main" id="{31B5C8F8-B7D9-29C1-19F3-D908DD2CF167}"/>
              </a:ext>
            </a:extLst>
          </p:cNvPr>
          <p:cNvSpPr/>
          <p:nvPr/>
        </p:nvSpPr>
        <p:spPr>
          <a:xfrm>
            <a:off x="7805980" y="4480612"/>
            <a:ext cx="347636" cy="1406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0816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A3A175-3857-FC38-90CA-720F7DDE8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Methodik - Datenaufzeichnung 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27BE31B-0119-676B-BF07-8C7D6FFF0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1651B-F1FD-46A0-8AD9-AAD61D170A5B}" type="datetime1">
              <a:rPr lang="de-DE" smtClean="0"/>
              <a:t>12.06.2026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EED9225-CBCD-546C-EEFE-773988495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5C7320E-D86B-35DA-DA14-DB6971DF3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5</a:t>
            </a:fld>
            <a:endParaRPr lang="de-DE"/>
          </a:p>
        </p:txBody>
      </p:sp>
      <p:pic>
        <p:nvPicPr>
          <p:cNvPr id="7" name="Inhaltsplatzhalter 6" descr="Ein Bild, das draußen, Gras, Pflanze, Bahn enthält.&#10;&#10;KI-generierte Inhalte können fehlerhaft sein.">
            <a:extLst>
              <a:ext uri="{FF2B5EF4-FFF2-40B4-BE49-F238E27FC236}">
                <a16:creationId xmlns:a16="http://schemas.microsoft.com/office/drawing/2014/main" id="{57088105-A2ED-4C6C-B600-A6B374DDBD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845300" y="1541045"/>
            <a:ext cx="4337048" cy="244516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F5B23103-57B4-30F2-FD8D-DE898DDE3646}"/>
              </a:ext>
            </a:extLst>
          </p:cNvPr>
          <p:cNvSpPr txBox="1">
            <a:spLocks/>
          </p:cNvSpPr>
          <p:nvPr/>
        </p:nvSpPr>
        <p:spPr>
          <a:xfrm>
            <a:off x="838200" y="1765300"/>
            <a:ext cx="5715000" cy="443229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Messtation</a:t>
            </a:r>
          </a:p>
          <a:p>
            <a:pPr lvl="1"/>
            <a:r>
              <a:rPr lang="de-DE" dirty="0" err="1"/>
              <a:t>Drip</a:t>
            </a:r>
            <a:r>
              <a:rPr lang="de-DE" dirty="0"/>
              <a:t>, Darin, Temperatur, Luftfeuchtigkeit, Solarstrahlung </a:t>
            </a:r>
          </a:p>
          <a:p>
            <a:pPr lvl="1"/>
            <a:r>
              <a:rPr lang="de-DE" dirty="0"/>
              <a:t>16. Mai – 14. September</a:t>
            </a:r>
          </a:p>
          <a:p>
            <a:pPr lvl="1"/>
            <a:r>
              <a:rPr lang="de-DE" dirty="0"/>
              <a:t>2 m Messzelle</a:t>
            </a:r>
          </a:p>
          <a:p>
            <a:pPr lvl="1"/>
            <a:r>
              <a:rPr lang="de-DE" dirty="0"/>
              <a:t>1-min Messintervall  </a:t>
            </a:r>
          </a:p>
          <a:p>
            <a:pPr lvl="1"/>
            <a:endParaRPr lang="de-DE" sz="1100" dirty="0"/>
          </a:p>
          <a:p>
            <a:r>
              <a:rPr lang="de-DE" dirty="0"/>
              <a:t>Bewässerung</a:t>
            </a:r>
          </a:p>
          <a:p>
            <a:pPr lvl="1"/>
            <a:r>
              <a:rPr lang="de-DE" dirty="0"/>
              <a:t>Start um 9:00 Uhr</a:t>
            </a:r>
          </a:p>
          <a:p>
            <a:pPr lvl="1"/>
            <a:r>
              <a:rPr lang="de-DE" dirty="0"/>
              <a:t>Konstante Bewässerungsdauer von 4 min</a:t>
            </a:r>
          </a:p>
          <a:p>
            <a:pPr lvl="1"/>
            <a:r>
              <a:rPr lang="de-DE" dirty="0"/>
              <a:t>Lichtsummen + manuelle Nachregelung</a:t>
            </a:r>
          </a:p>
          <a:p>
            <a:pPr marL="457200" lvl="1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=&gt; 107 Tage = 481 Bewässerungszyklen</a:t>
            </a:r>
          </a:p>
        </p:txBody>
      </p:sp>
      <p:pic>
        <p:nvPicPr>
          <p:cNvPr id="11" name="Inhaltsplatzhalter 7">
            <a:extLst>
              <a:ext uri="{FF2B5EF4-FFF2-40B4-BE49-F238E27FC236}">
                <a16:creationId xmlns:a16="http://schemas.microsoft.com/office/drawing/2014/main" id="{E64B3C7D-D435-74B3-F29E-BFD2A97E5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4327" y="4042897"/>
            <a:ext cx="4458021" cy="225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517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790EDD-EB59-D7CD-CF66-ABE42541D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Methodik - Drain Modell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FFA16AF-10D3-E927-F00E-04F00141CD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e-DE" dirty="0"/>
                  <a:t>Evapotranspiration (Verdunstung + Verbrauch der Pflanze)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𝐸𝑇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𝐸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0 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𝑔𝑟𝑒𝑒𝑛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de-DE" dirty="0"/>
              </a:p>
              <a:p>
                <a:pPr lvl="2"/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𝐸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0 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𝑔𝑟𝑒𝑒𝑛</m:t>
                        </m:r>
                      </m:sub>
                    </m:sSub>
                  </m:oMath>
                </a14:m>
                <a:r>
                  <a:rPr lang="de-DE" dirty="0"/>
                  <a:t> : Referenzverdunstung</a:t>
                </a:r>
              </a:p>
              <a:p>
                <a:pPr lvl="3"/>
                <a:r>
                  <a:rPr lang="de-DE" dirty="0"/>
                  <a:t>Hauptfaktoren: Ort, Datum, Temperatur, Solarstrahlung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de-DE" dirty="0"/>
                  <a:t> : Erdbeer-Kulturkoeffizient</a:t>
                </a:r>
              </a:p>
              <a:p>
                <a:pPr lvl="2"/>
                <a:endParaRPr lang="de-DE" dirty="0"/>
              </a:p>
              <a:p>
                <a:endParaRPr lang="de-DE" dirty="0"/>
              </a:p>
              <a:p>
                <a:endParaRPr lang="de-DE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FFA16AF-10D3-E927-F00E-04F00141CD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rafik 4">
            <a:extLst>
              <a:ext uri="{FF2B5EF4-FFF2-40B4-BE49-F238E27FC236}">
                <a16:creationId xmlns:a16="http://schemas.microsoft.com/office/drawing/2014/main" id="{22FECDDA-6253-7AC6-1FBA-75EA2E3FF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489" y="3868757"/>
            <a:ext cx="7429021" cy="2115603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DD6A1B5-2BA6-6712-D0A0-4E4F51083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F023E-5E6A-4A07-9FA3-38630949B4D7}" type="datetime1">
              <a:rPr lang="de-DE" smtClean="0"/>
              <a:t>12.06.2026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03F253E-E5EF-4B7D-E3A2-6477CAC7A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AF74353-613B-2B71-77BD-2E75905F7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4138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1759B9-7B09-B76B-1F27-E1C8F8D4D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0" dirty="0">
                <a:ea typeface="Cambria Math" panose="02040503050406030204" pitchFamily="18" charset="0"/>
              </a:rPr>
              <a:t>Methodik – Drain Modell</a:t>
            </a:r>
            <a:endParaRPr lang="de-DE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993F01D0-86B3-1566-1277-8A64AEF014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8281" y="3668065"/>
            <a:ext cx="4238085" cy="2235344"/>
          </a:xfrm>
          <a:prstGeom prst="rect">
            <a:avLst/>
          </a:prstGeom>
        </p:spPr>
      </p:pic>
      <p:sp>
        <p:nvSpPr>
          <p:cNvPr id="8" name="Pfeil: nach rechts 7">
            <a:extLst>
              <a:ext uri="{FF2B5EF4-FFF2-40B4-BE49-F238E27FC236}">
                <a16:creationId xmlns:a16="http://schemas.microsoft.com/office/drawing/2014/main" id="{49C32747-E869-B75A-B58A-769422696E8D}"/>
              </a:ext>
            </a:extLst>
          </p:cNvPr>
          <p:cNvSpPr/>
          <p:nvPr/>
        </p:nvSpPr>
        <p:spPr>
          <a:xfrm>
            <a:off x="5479473" y="4610100"/>
            <a:ext cx="519547" cy="15932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A2A4BF0F-A399-AC08-EBF3-42B6F99C6920}"/>
              </a:ext>
            </a:extLst>
          </p:cNvPr>
          <p:cNvSpPr txBox="1">
            <a:spLocks/>
          </p:cNvSpPr>
          <p:nvPr/>
        </p:nvSpPr>
        <p:spPr>
          <a:xfrm>
            <a:off x="876301" y="1664420"/>
            <a:ext cx="10439399" cy="190500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Einflussfaktoren auf den Wasserverbrauch und den </a:t>
            </a:r>
            <a:r>
              <a:rPr lang="de-DE" dirty="0" err="1"/>
              <a:t>Kc</a:t>
            </a:r>
            <a:r>
              <a:rPr lang="de-DE" dirty="0"/>
              <a:t>-Faktor</a:t>
            </a:r>
          </a:p>
          <a:p>
            <a:pPr lvl="1"/>
            <a:r>
              <a:rPr lang="de-DE" dirty="0"/>
              <a:t>Frigo Pflanzen</a:t>
            </a:r>
          </a:p>
          <a:p>
            <a:pPr lvl="1"/>
            <a:r>
              <a:rPr lang="de-DE" dirty="0"/>
              <a:t>3 Ertragszyklen</a:t>
            </a:r>
          </a:p>
          <a:p>
            <a:pPr lvl="1"/>
            <a:r>
              <a:rPr lang="de-DE" dirty="0"/>
              <a:t>Formel bezieht sich auf 1 m²</a:t>
            </a:r>
          </a:p>
          <a:p>
            <a:pPr lvl="1"/>
            <a:r>
              <a:rPr lang="de-DE" dirty="0"/>
              <a:t>Freilandbetrachtung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0C918A8-4512-68B6-5A2D-E44671B71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5A53-6B6B-48CC-912D-F9100B58803A}" type="datetime1">
              <a:rPr lang="de-DE" smtClean="0"/>
              <a:t>12.06.2026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5A07BE5-992C-BD30-EC3B-BAA6497A2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2B4B984-E287-A333-0531-E13096AFB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7</a:t>
            </a:fld>
            <a:endParaRPr lang="de-DE"/>
          </a:p>
        </p:txBody>
      </p:sp>
      <p:pic>
        <p:nvPicPr>
          <p:cNvPr id="10" name="Grafik 9" descr="Ein Bild, das Reihe, Diagramm enthält.&#10;&#10;KI-generierte Inhalte können fehlerhaft sein.">
            <a:extLst>
              <a:ext uri="{FF2B5EF4-FFF2-40B4-BE49-F238E27FC236}">
                <a16:creationId xmlns:a16="http://schemas.microsoft.com/office/drawing/2014/main" id="{58AF60C9-5FBC-4494-A8AA-AC29B81D3F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838214"/>
            <a:ext cx="5753948" cy="2027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965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2F217D-7D89-5863-9E86-8209C7876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Ergebnisse - Modell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D7B25A41-4905-DA9E-E9B0-7AC87DCD1FFB}"/>
              </a:ext>
            </a:extLst>
          </p:cNvPr>
          <p:cNvSpPr txBox="1"/>
          <p:nvPr/>
        </p:nvSpPr>
        <p:spPr>
          <a:xfrm>
            <a:off x="5503471" y="1947597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Bestimmtheitsmaß R²: 0,69</a:t>
            </a:r>
          </a:p>
          <a:p>
            <a:r>
              <a:rPr lang="de-DE" dirty="0"/>
              <a:t>Mean Absolute Error (MAE): 9,79 L/Messtelle*Tag</a:t>
            </a:r>
          </a:p>
          <a:p>
            <a:r>
              <a:rPr lang="de-DE" dirty="0"/>
              <a:t>Root Mean Square Error (RMSE): 13,21 L/Messtelle*Tag</a:t>
            </a:r>
          </a:p>
          <a:p>
            <a:r>
              <a:rPr lang="de-DE" dirty="0"/>
              <a:t>Relative Error: 36,8%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9DE1946-86F8-F002-825F-746890248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1F3D6-066E-4935-92CF-D896144B174A}" type="datetime1">
              <a:rPr lang="de-DE" smtClean="0"/>
              <a:t>12.06.2026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E438911-639B-AF27-620A-5A6DFC5DA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7C0DF59-0A0B-32F2-4227-A9028A6E9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8</a:t>
            </a:fld>
            <a:endParaRPr lang="de-DE"/>
          </a:p>
        </p:txBody>
      </p:sp>
      <p:pic>
        <p:nvPicPr>
          <p:cNvPr id="6" name="Grafik 5" descr="Ein Bild, das Text, Diagramm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6B08028A-AC8B-0C9F-D65F-506F88E28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56416"/>
            <a:ext cx="4351655" cy="2155794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B001A6D1-01B6-0A9D-9D15-81F2E7289999}"/>
              </a:ext>
            </a:extLst>
          </p:cNvPr>
          <p:cNvSpPr txBox="1"/>
          <p:nvPr/>
        </p:nvSpPr>
        <p:spPr>
          <a:xfrm>
            <a:off x="990600" y="4090646"/>
            <a:ext cx="77216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dirty="0"/>
              <a:t>Deutliche Streuung um die Idealgerade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dirty="0"/>
              <a:t>Modell unterschätzt/überschätzt Tageswerte teilweise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dirty="0"/>
              <a:t>Unsicherheiten durch schwierige Kalibrierung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dirty="0"/>
              <a:t>Ausreichend für eine realistische Datengenerierung</a:t>
            </a:r>
          </a:p>
        </p:txBody>
      </p:sp>
    </p:spTree>
    <p:extLst>
      <p:ext uri="{BB962C8B-B14F-4D97-AF65-F5344CB8AC3E}">
        <p14:creationId xmlns:p14="http://schemas.microsoft.com/office/powerpoint/2010/main" val="165957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D477AD-A1A0-5C5E-D3E2-DA421DD14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Drain-Berechnung aus Modell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6B0F19B-3D91-C3BE-4C81-414D0AF30F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877550" cy="4351338"/>
              </a:xfrm>
            </p:spPr>
            <p:txBody>
              <a:bodyPr>
                <a:normAutofit/>
              </a:bodyPr>
              <a:lstStyle/>
              <a:p>
                <a:r>
                  <a:rPr lang="de-DE" dirty="0"/>
                  <a:t>Pro Bewässerungsereignis werden konstant 5 L pro Messzelle </a:t>
                </a:r>
                <a:r>
                  <a:rPr lang="de-DE" dirty="0" err="1"/>
                  <a:t>fertigiert</a:t>
                </a:r>
                <a:r>
                  <a:rPr lang="de-DE" dirty="0"/>
                  <a:t> (Sollmenge)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drain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target</m:t>
                        </m:r>
                      </m:sub>
                    </m:sSub>
                  </m:oMath>
                </a14:m>
                <a:r>
                  <a:rPr lang="de-DE" dirty="0"/>
                  <a:t> wird zufällig zwischen [-0,5; 2,5] L gewählt </a:t>
                </a:r>
              </a:p>
              <a:p>
                <a:pPr lvl="1"/>
                <a:r>
                  <a:rPr lang="de-DE" dirty="0"/>
                  <a:t>Idealer Drain: 20 % von 5 L = 1 L pro Bewässerungsepisode</a:t>
                </a:r>
              </a:p>
              <a:p>
                <a:pPr lvl="1"/>
                <a:r>
                  <a:rPr lang="de-DE" dirty="0"/>
                  <a:t>± 150% von Ideal Drain</a:t>
                </a:r>
              </a:p>
              <a:p>
                <a:r>
                  <a:rPr lang="de-DE" dirty="0"/>
                  <a:t>Bestimmung der Episodenlänge</a:t>
                </a:r>
              </a:p>
              <a:p>
                <a:pPr lvl="1"/>
                <a:r>
                  <a:rPr lang="de-DE" dirty="0"/>
                  <a:t>Episode immer bis zur nächsten Bewässerung (Bewässerungszyklus)</a:t>
                </a:r>
              </a:p>
              <a:p>
                <a:pPr lvl="1"/>
                <a:r>
                  <a:rPr lang="de-DE" dirty="0"/>
                  <a:t>Episodenende wenn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𝑐𝑢𝑚𝑢𝑙𝑎𝑡𝑖𝑣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drip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drain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target</m:t>
                        </m:r>
                      </m:sub>
                    </m:sSub>
                  </m:oMath>
                </a14:m>
                <a:endParaRPr lang="de-DE" dirty="0"/>
              </a:p>
              <a:p>
                <a:r>
                  <a:rPr lang="de-DE" dirty="0"/>
                  <a:t>Wetterdaten von 10 öffentlichen Wetterstationen mit 10-min-Auflösung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6B0F19B-3D91-C3BE-4C81-414D0AF30F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877550" cy="4351338"/>
              </a:xfrm>
              <a:blipFill>
                <a:blip r:embed="rId2"/>
                <a:stretch>
                  <a:fillRect l="-1009" t="-224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D29A96F-8B7F-0759-46F1-B34AF03E8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36B8C-78D6-4922-BA10-ED521FFC8F6A}" type="datetime1">
              <a:rPr lang="de-DE" smtClean="0"/>
              <a:t>12.06.2026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BF39AD8-D654-8EF9-7ACC-996B9A464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3F2A4C-9E69-DC3E-0EA4-E424B2C39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9249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42ACCF-6EB2-DF2E-9BEB-59931DD5A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Reward</a:t>
            </a:r>
            <a:endParaRPr lang="de-DE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304E131D-1DB5-9510-317F-6C19FA8504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3558" y="1825625"/>
            <a:ext cx="6888955" cy="43513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Inhaltsplatzhalter 2">
                <a:extLst>
                  <a:ext uri="{FF2B5EF4-FFF2-40B4-BE49-F238E27FC236}">
                    <a16:creationId xmlns:a16="http://schemas.microsoft.com/office/drawing/2014/main" id="{AE0A3B76-9A67-707B-3C29-25E24FB9592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988300" y="2317749"/>
                <a:ext cx="3365499" cy="385921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de-DE" sz="2400" dirty="0"/>
                  <a:t>Abhängig vom gewählten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drain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target</m:t>
                        </m:r>
                      </m:sub>
                    </m:sSub>
                  </m:oMath>
                </a14:m>
                <a:endParaRPr lang="de-DE" sz="2400" dirty="0"/>
              </a:p>
              <a:p>
                <a:r>
                  <a:rPr lang="de-DE" sz="2400" dirty="0"/>
                  <a:t> Positiv bei +-10% von Ideal 20% bezogen auf 5 L</a:t>
                </a:r>
              </a:p>
              <a:p>
                <a:r>
                  <a:rPr lang="de-DE" sz="2400" dirty="0"/>
                  <a:t>Konstant pro Episode da konstanter Drain-Offset -&gt; konstanter Action Offset</a:t>
                </a:r>
              </a:p>
            </p:txBody>
          </p:sp>
        </mc:Choice>
        <mc:Fallback xmlns="">
          <p:sp>
            <p:nvSpPr>
              <p:cNvPr id="8" name="Inhaltsplatzhalter 2">
                <a:extLst>
                  <a:ext uri="{FF2B5EF4-FFF2-40B4-BE49-F238E27FC236}">
                    <a16:creationId xmlns:a16="http://schemas.microsoft.com/office/drawing/2014/main" id="{AE0A3B76-9A67-707B-3C29-25E24FB959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8300" y="2317749"/>
                <a:ext cx="3365499" cy="3859213"/>
              </a:xfrm>
              <a:prstGeom prst="rect">
                <a:avLst/>
              </a:prstGeom>
              <a:blipFill>
                <a:blip r:embed="rId3"/>
                <a:stretch>
                  <a:fillRect l="-2355" t="-221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F8F19CF-F8E4-AF33-9B56-0CB501E90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D876-292D-448A-B73A-F4F3D951060E}" type="datetime1">
              <a:rPr lang="de-DE" smtClean="0"/>
              <a:t>12.06.2026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B05DFFB-C9BF-27C3-7246-7B0741E33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7F21DC0-D8EF-9566-3871-428F42107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6893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47BE16-6A47-DADD-73D9-E3FDA599D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Training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D22AD135-AEC0-8A51-CB65-1C0929ECC2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70692"/>
                <a:ext cx="5827295" cy="4692363"/>
              </a:xfrm>
            </p:spPr>
            <p:txBody>
              <a:bodyPr>
                <a:normAutofit fontScale="92500"/>
              </a:bodyPr>
              <a:lstStyle/>
              <a:p>
                <a:r>
                  <a:rPr lang="de-DE" dirty="0"/>
                  <a:t>Observation</a:t>
                </a:r>
              </a:p>
              <a:p>
                <a:endParaRPr lang="de-DE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𝑇𝑎𝑔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𝑑𝑒𝑠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𝐽𝑎h𝑟𝑒𝑠</m:t>
                              </m:r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𝐴𝑏𝑠𝑜𝑙𝑢𝑡𝑒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𝑇𝑎𝑔𝑒𝑠𝑧𝑒𝑖𝑡</m:t>
                              </m:r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𝑍𝑒𝑖𝑡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𝑠𝑒𝑖𝑡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𝑑𝑒𝑟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𝑙𝑒𝑡𝑧𝑡𝑒𝑛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𝐵𝑒𝑤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ä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𝑠𝑠𝑒𝑟𝑢𝑛𝑔</m:t>
                              </m:r>
                            </m:e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𝑐𝑢𝑚𝑠𝑢𝑚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𝑇𝑒𝑚𝑝𝑒𝑟𝑎𝑡𝑢𝑟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𝑐𝑢𝑚𝑠𝑢𝑚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𝑟𝑒𝑙𝑎𝑡𝑖𝑣𝑒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𝐿𝑢𝑓𝑡𝑓𝑒𝑢𝑐h𝑡𝑖𝑔𝑘𝑒𝑖𝑡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𝑐𝑢𝑚𝑠𝑢𝑚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𝑆𝑜𝑙𝑎𝑟𝑠𝑡𝑟𝑎h𝑙𝑢𝑛𝑔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𝑐𝑢𝑚𝑠𝑢𝑚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𝐷𝑟𝑎𝑖𝑛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de-DE" b="0" dirty="0"/>
              </a:p>
              <a:p>
                <a:pPr lvl="1"/>
                <a:endParaRPr lang="de-DE" b="0" dirty="0"/>
              </a:p>
              <a:p>
                <a:r>
                  <a:rPr lang="de-DE" dirty="0"/>
                  <a:t>Action </a:t>
                </a:r>
              </a:p>
              <a:p>
                <a:pPr lvl="1"/>
                <a:r>
                  <a:rPr lang="de-DE" dirty="0"/>
                  <a:t>Zeit bis zum Episodenende (Kontinuierlich)</a:t>
                </a:r>
              </a:p>
            </p:txBody>
          </p:sp>
        </mc:Choice>
        <mc:Fallback xmlns="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D22AD135-AEC0-8A51-CB65-1C0929ECC2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70692"/>
                <a:ext cx="5827295" cy="4692363"/>
              </a:xfrm>
              <a:blipFill>
                <a:blip r:embed="rId2"/>
                <a:stretch>
                  <a:fillRect l="-1675" t="-194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Inhaltsplatzhalter 3">
            <a:extLst>
              <a:ext uri="{FF2B5EF4-FFF2-40B4-BE49-F238E27FC236}">
                <a16:creationId xmlns:a16="http://schemas.microsoft.com/office/drawing/2014/main" id="{AB89DE1E-5369-7750-DA85-0E8C6EA5AB13}"/>
              </a:ext>
            </a:extLst>
          </p:cNvPr>
          <p:cNvSpPr txBox="1">
            <a:spLocks/>
          </p:cNvSpPr>
          <p:nvPr/>
        </p:nvSpPr>
        <p:spPr>
          <a:xfrm>
            <a:off x="7031183" y="3158289"/>
            <a:ext cx="4569506" cy="2615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de-DE" dirty="0"/>
              <a:t>Observation also auch Action werden zwischen ihren Maximalwerten linear normalisiert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D833499-6B76-716F-5F97-B5E291B93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C15F2-6B38-498D-95D4-346592B59C93}" type="datetime1">
              <a:rPr lang="de-DE" smtClean="0"/>
              <a:t>12.06.2026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18DE58A-384F-C146-C4BC-6CBE1E0C3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0198526-1138-440D-E698-7FAB52362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11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18348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20D09B-BEFF-FCA5-4C8C-7C5FFA9CB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Training</a:t>
            </a:r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FC8ED4BC-01D5-4729-A72C-50F411B5D6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04200" y="1954442"/>
            <a:ext cx="2694919" cy="1267885"/>
          </a:xfrm>
          <a:prstGeom prst="rect">
            <a:avLst/>
          </a:prstGeom>
        </p:spPr>
      </p:pic>
      <p:sp>
        <p:nvSpPr>
          <p:cNvPr id="9" name="Inhaltsplatzhalter 6">
            <a:extLst>
              <a:ext uri="{FF2B5EF4-FFF2-40B4-BE49-F238E27FC236}">
                <a16:creationId xmlns:a16="http://schemas.microsoft.com/office/drawing/2014/main" id="{477FF9EE-090B-0CC0-ACB7-CC855B0A9F5E}"/>
              </a:ext>
            </a:extLst>
          </p:cNvPr>
          <p:cNvSpPr txBox="1">
            <a:spLocks/>
          </p:cNvSpPr>
          <p:nvPr/>
        </p:nvSpPr>
        <p:spPr>
          <a:xfrm>
            <a:off x="817908" y="1668463"/>
            <a:ext cx="7151342" cy="4486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Episode Design</a:t>
            </a:r>
          </a:p>
          <a:p>
            <a:pPr lvl="1"/>
            <a:r>
              <a:rPr lang="de-DE" dirty="0"/>
              <a:t>Bewässerungszyklus</a:t>
            </a:r>
          </a:p>
          <a:p>
            <a:pPr lvl="2"/>
            <a:r>
              <a:rPr lang="de-DE" dirty="0"/>
              <a:t>Alle kumulativen Parameter zurückgesetzt</a:t>
            </a:r>
          </a:p>
          <a:p>
            <a:pPr lvl="2"/>
            <a:r>
              <a:rPr lang="de-DE" dirty="0"/>
              <a:t>Letzter Zyklus ausgenommen</a:t>
            </a:r>
          </a:p>
          <a:p>
            <a:pPr lvl="1"/>
            <a:r>
              <a:rPr lang="de-DE" dirty="0"/>
              <a:t>Gesamter Tag</a:t>
            </a:r>
          </a:p>
          <a:p>
            <a:pPr lvl="2"/>
            <a:r>
              <a:rPr lang="de-DE" dirty="0"/>
              <a:t>9:00 bis 0:00 Uhr</a:t>
            </a:r>
          </a:p>
          <a:p>
            <a:pPr lvl="2"/>
            <a:r>
              <a:rPr lang="de-DE" dirty="0"/>
              <a:t>Kein Zurücksetzen der kumulativen Parameter</a:t>
            </a:r>
          </a:p>
          <a:p>
            <a:pPr lvl="2"/>
            <a:endParaRPr lang="de-DE" sz="1200" dirty="0"/>
          </a:p>
          <a:p>
            <a:r>
              <a:rPr lang="de-DE" dirty="0"/>
              <a:t>Training</a:t>
            </a:r>
          </a:p>
          <a:p>
            <a:pPr lvl="1"/>
            <a:r>
              <a:rPr lang="de-DE" dirty="0"/>
              <a:t>Nur Modell-Datensatz</a:t>
            </a:r>
          </a:p>
          <a:p>
            <a:pPr lvl="1"/>
            <a:r>
              <a:rPr lang="de-DE" dirty="0"/>
              <a:t>Aufgezeichnete Realdaten ausschließlich zur Evaluierung</a:t>
            </a:r>
          </a:p>
        </p:txBody>
      </p:sp>
      <p:sp>
        <p:nvSpPr>
          <p:cNvPr id="13" name="Datumsplatzhalter 12">
            <a:extLst>
              <a:ext uri="{FF2B5EF4-FFF2-40B4-BE49-F238E27FC236}">
                <a16:creationId xmlns:a16="http://schemas.microsoft.com/office/drawing/2014/main" id="{8F559A4A-902D-460C-A41F-F394EA243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93B42-2248-4135-9FFD-B261D77D8A00}" type="datetime1">
              <a:rPr lang="de-DE" smtClean="0"/>
              <a:t>12.06.2026</a:t>
            </a:fld>
            <a:endParaRPr lang="de-DE"/>
          </a:p>
        </p:txBody>
      </p:sp>
      <p:sp>
        <p:nvSpPr>
          <p:cNvPr id="14" name="Fußzeilenplatzhalter 13">
            <a:extLst>
              <a:ext uri="{FF2B5EF4-FFF2-40B4-BE49-F238E27FC236}">
                <a16:creationId xmlns:a16="http://schemas.microsoft.com/office/drawing/2014/main" id="{ED051961-9E4F-F717-8625-13D86AA5A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C406CA5F-0F1C-43BE-594E-B5DB3DFAB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12</a:t>
            </a:fld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EAC3036-A392-BF16-72FE-C05454CA66FA}"/>
              </a:ext>
            </a:extLst>
          </p:cNvPr>
          <p:cNvSpPr txBox="1"/>
          <p:nvPr/>
        </p:nvSpPr>
        <p:spPr>
          <a:xfrm>
            <a:off x="7348026" y="3486081"/>
            <a:ext cx="45085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Initialer Benchmark: 15 </a:t>
            </a:r>
            <a:r>
              <a:rPr lang="de-DE" dirty="0"/>
              <a:t>Algorithmen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Policy in Latent Action Space (</a:t>
            </a:r>
            <a:r>
              <a:rPr lang="de-DE" dirty="0"/>
              <a:t>PLAS)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Batch-Constrained Q-learning (BCQ)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Implicit Q-learning (IQL)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84393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BCA2C-0CE4-EA7B-7B71-17112ED50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AC52E0-BEED-596D-39FE-B5169DF44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Ergebnisse Training – Beispiel Episoden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3C80EA66-A553-5A6E-7348-D99607024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6600" y="1586352"/>
            <a:ext cx="4527550" cy="4351338"/>
          </a:xfrm>
        </p:spPr>
        <p:txBody>
          <a:bodyPr>
            <a:normAutofit fontScale="92500" lnSpcReduction="20000"/>
          </a:bodyPr>
          <a:lstStyle/>
          <a:p>
            <a:r>
              <a:rPr lang="de-DE" dirty="0"/>
              <a:t>Auflösung in 10 min Intervallen </a:t>
            </a:r>
          </a:p>
          <a:p>
            <a:r>
              <a:rPr lang="de-DE" dirty="0"/>
              <a:t>Ansatz Bewässerungszyklus</a:t>
            </a:r>
          </a:p>
          <a:p>
            <a:pPr lvl="1"/>
            <a:r>
              <a:rPr lang="de-DE" dirty="0"/>
              <a:t>Stärkere Abweichungen zum Start</a:t>
            </a:r>
          </a:p>
          <a:p>
            <a:pPr lvl="1"/>
            <a:r>
              <a:rPr lang="de-DE" dirty="0"/>
              <a:t>Grundsätzlich robuster</a:t>
            </a:r>
          </a:p>
          <a:p>
            <a:pPr lvl="1"/>
            <a:endParaRPr lang="de-DE" dirty="0"/>
          </a:p>
          <a:p>
            <a:r>
              <a:rPr lang="de-DE" dirty="0"/>
              <a:t>Ganzer Tag </a:t>
            </a:r>
          </a:p>
          <a:p>
            <a:pPr lvl="1"/>
            <a:r>
              <a:rPr lang="de-DE" dirty="0"/>
              <a:t>Weicht stark vom ideal ab</a:t>
            </a:r>
          </a:p>
          <a:p>
            <a:pPr lvl="1"/>
            <a:r>
              <a:rPr lang="de-DE" dirty="0"/>
              <a:t>Fehler können sich über den Tag verstärken</a:t>
            </a:r>
          </a:p>
          <a:p>
            <a:pPr lvl="1"/>
            <a:r>
              <a:rPr lang="de-DE" dirty="0"/>
              <a:t>Probleme insbesondere gegen Ende der Episode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DF6A74A0-07AD-7319-7967-2C069583E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1C85D-2819-49FA-BB7A-E29A9DC221CF}" type="datetime1">
              <a:rPr lang="de-DE" smtClean="0"/>
              <a:t>12.06.2026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B52DC9F-BD28-4504-376A-BEFE7FFB3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F32F9925-E008-36E1-F1DF-AD2EE142C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13</a:t>
            </a:fld>
            <a:endParaRPr lang="de-DE"/>
          </a:p>
        </p:txBody>
      </p:sp>
      <p:pic>
        <p:nvPicPr>
          <p:cNvPr id="3" name="Grafik 2" descr="Ein Bild, das Text, Reihe, Diagramm, Steigung enthält.&#10;&#10;KI-generierte Inhalte können fehlerhaft sein.">
            <a:extLst>
              <a:ext uri="{FF2B5EF4-FFF2-40B4-BE49-F238E27FC236}">
                <a16:creationId xmlns:a16="http://schemas.microsoft.com/office/drawing/2014/main" id="{24CE0B4E-3D85-DEB3-67A6-3D73646CB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49" y="1397905"/>
            <a:ext cx="6494875" cy="2481945"/>
          </a:xfrm>
          <a:prstGeom prst="rect">
            <a:avLst/>
          </a:prstGeom>
        </p:spPr>
      </p:pic>
      <p:pic>
        <p:nvPicPr>
          <p:cNvPr id="9" name="Grafik 8" descr="Ein Bild, das Reihe, Diagramm, Text, Steigung enthält.&#10;&#10;KI-generierte Inhalte können fehlerhaft sein.">
            <a:extLst>
              <a:ext uri="{FF2B5EF4-FFF2-40B4-BE49-F238E27FC236}">
                <a16:creationId xmlns:a16="http://schemas.microsoft.com/office/drawing/2014/main" id="{62C3C25C-E76D-17ED-62BA-087CD2084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49" y="3892550"/>
            <a:ext cx="6494875" cy="2477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620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BAEA37-DD78-96B3-8302-9CEC1780A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Ergebnisse Training - Bewässerungszyklus 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F170D91-28C2-D068-4A08-AA112A063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1651B-F1FD-46A0-8AD9-AAD61D170A5B}" type="datetime1">
              <a:rPr lang="de-DE" smtClean="0"/>
              <a:t>12.06.2026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5FC594C-FED6-DF3A-D568-E13DB299F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4C517BA-F850-ED82-C393-8117FACC7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14</a:t>
            </a:fld>
            <a:endParaRPr lang="de-DE"/>
          </a:p>
        </p:txBody>
      </p:sp>
      <p:graphicFrame>
        <p:nvGraphicFramePr>
          <p:cNvPr id="11" name="Inhaltsplatzhalter 10">
            <a:extLst>
              <a:ext uri="{FF2B5EF4-FFF2-40B4-BE49-F238E27FC236}">
                <a16:creationId xmlns:a16="http://schemas.microsoft.com/office/drawing/2014/main" id="{FB980C4B-D613-EC92-9F92-92B5922BB9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9362211"/>
              </p:ext>
            </p:extLst>
          </p:nvPr>
        </p:nvGraphicFramePr>
        <p:xfrm>
          <a:off x="6604000" y="1690688"/>
          <a:ext cx="5391147" cy="200459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5481">
                  <a:extLst>
                    <a:ext uri="{9D8B030D-6E8A-4147-A177-3AD203B41FA5}">
                      <a16:colId xmlns:a16="http://schemas.microsoft.com/office/drawing/2014/main" val="1938322414"/>
                    </a:ext>
                  </a:extLst>
                </a:gridCol>
                <a:gridCol w="606355">
                  <a:extLst>
                    <a:ext uri="{9D8B030D-6E8A-4147-A177-3AD203B41FA5}">
                      <a16:colId xmlns:a16="http://schemas.microsoft.com/office/drawing/2014/main" val="257880537"/>
                    </a:ext>
                  </a:extLst>
                </a:gridCol>
                <a:gridCol w="734887">
                  <a:extLst>
                    <a:ext uri="{9D8B030D-6E8A-4147-A177-3AD203B41FA5}">
                      <a16:colId xmlns:a16="http://schemas.microsoft.com/office/drawing/2014/main" val="2512727293"/>
                    </a:ext>
                  </a:extLst>
                </a:gridCol>
                <a:gridCol w="669430">
                  <a:extLst>
                    <a:ext uri="{9D8B030D-6E8A-4147-A177-3AD203B41FA5}">
                      <a16:colId xmlns:a16="http://schemas.microsoft.com/office/drawing/2014/main" val="599719089"/>
                    </a:ext>
                  </a:extLst>
                </a:gridCol>
                <a:gridCol w="669430">
                  <a:extLst>
                    <a:ext uri="{9D8B030D-6E8A-4147-A177-3AD203B41FA5}">
                      <a16:colId xmlns:a16="http://schemas.microsoft.com/office/drawing/2014/main" val="3248791533"/>
                    </a:ext>
                  </a:extLst>
                </a:gridCol>
                <a:gridCol w="669430">
                  <a:extLst>
                    <a:ext uri="{9D8B030D-6E8A-4147-A177-3AD203B41FA5}">
                      <a16:colId xmlns:a16="http://schemas.microsoft.com/office/drawing/2014/main" val="3178788736"/>
                    </a:ext>
                  </a:extLst>
                </a:gridCol>
                <a:gridCol w="642058">
                  <a:extLst>
                    <a:ext uri="{9D8B030D-6E8A-4147-A177-3AD203B41FA5}">
                      <a16:colId xmlns:a16="http://schemas.microsoft.com/office/drawing/2014/main" val="726573725"/>
                    </a:ext>
                  </a:extLst>
                </a:gridCol>
                <a:gridCol w="664076">
                  <a:extLst>
                    <a:ext uri="{9D8B030D-6E8A-4147-A177-3AD203B41FA5}">
                      <a16:colId xmlns:a16="http://schemas.microsoft.com/office/drawing/2014/main" val="1900930465"/>
                    </a:ext>
                  </a:extLst>
                </a:gridCol>
              </a:tblGrid>
              <a:tr h="656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effectLst/>
                        </a:rPr>
                        <a:t>Model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Number of Episodes</a:t>
                      </a:r>
                      <a:endParaRPr lang="de-DE" sz="1100" b="1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Errors (&gt;±90min) in %</a:t>
                      </a:r>
                      <a:endParaRPr lang="de-DE" sz="1100" b="1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Within ±10 min</a:t>
                      </a:r>
                      <a:endParaRPr lang="de-DE" sz="1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in %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Within ±20 min</a:t>
                      </a:r>
                      <a:endParaRPr lang="de-DE" sz="1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in %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Within ±30 min</a:t>
                      </a:r>
                      <a:endParaRPr lang="de-DE" sz="1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in %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Mean Offset</a:t>
                      </a:r>
                      <a:endParaRPr lang="de-DE" sz="1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in min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StdDev</a:t>
                      </a:r>
                      <a:endParaRPr lang="de-DE" sz="1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in min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09113125"/>
                  </a:ext>
                </a:extLst>
              </a:tr>
              <a:tr h="164005">
                <a:tc gridSpan="8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Irrigation interval-based episodes:</a:t>
                      </a:r>
                      <a:endParaRPr lang="de-DE" sz="1100" b="1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5005649"/>
                  </a:ext>
                </a:extLst>
              </a:tr>
              <a:tr h="1640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50">
                          <a:effectLst/>
                        </a:rPr>
                        <a:t>BCQ - sim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3580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6.06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11.29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24.31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40.91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-1.68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43.07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18563466"/>
                  </a:ext>
                </a:extLst>
              </a:tr>
              <a:tr h="1640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50">
                          <a:effectLst/>
                        </a:rPr>
                        <a:t>IQL - sim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3580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1.7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51.24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73.88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84.91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3.93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24.73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64327268"/>
                  </a:ext>
                </a:extLst>
              </a:tr>
              <a:tr h="1640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50">
                          <a:effectLst/>
                        </a:rPr>
                        <a:t>PLAS - sim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3580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1.17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58.59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80.3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89.61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8.58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19.85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44230516"/>
                  </a:ext>
                </a:extLst>
              </a:tr>
              <a:tr h="2062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50">
                          <a:effectLst/>
                        </a:rPr>
                        <a:t>BCQ - meas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481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37.27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15.45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30.68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41.59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-9.96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34.7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60686782"/>
                  </a:ext>
                </a:extLst>
              </a:tr>
              <a:tr h="1640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50">
                          <a:effectLst/>
                        </a:rPr>
                        <a:t>IQL - meas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481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44.55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26.36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37.27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42.95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4.22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28.53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68106113"/>
                  </a:ext>
                </a:extLst>
              </a:tr>
              <a:tr h="2832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50" dirty="0">
                          <a:effectLst/>
                        </a:rPr>
                        <a:t>PLAS - </a:t>
                      </a:r>
                      <a:r>
                        <a:rPr lang="en-US" sz="950" dirty="0" err="1">
                          <a:effectLst/>
                        </a:rPr>
                        <a:t>meas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481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46.14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25.0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33.18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40.68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0.17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effectLst/>
                        </a:rPr>
                        <a:t>31.11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57838354"/>
                  </a:ext>
                </a:extLst>
              </a:tr>
            </a:tbl>
          </a:graphicData>
        </a:graphic>
      </p:graphicFrame>
      <p:pic>
        <p:nvPicPr>
          <p:cNvPr id="12" name="Grafik 11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8C4F4A04-B98F-5CD0-8BE3-F0A5E3F32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725" y="1853461"/>
            <a:ext cx="5759450" cy="3683635"/>
          </a:xfrm>
          <a:prstGeom prst="rect">
            <a:avLst/>
          </a:prstGeom>
        </p:spPr>
      </p:pic>
      <p:sp>
        <p:nvSpPr>
          <p:cNvPr id="13" name="Inhaltsplatzhalter 6">
            <a:extLst>
              <a:ext uri="{FF2B5EF4-FFF2-40B4-BE49-F238E27FC236}">
                <a16:creationId xmlns:a16="http://schemas.microsoft.com/office/drawing/2014/main" id="{0D4DE119-8D6C-52C1-0D43-8863FA878BC4}"/>
              </a:ext>
            </a:extLst>
          </p:cNvPr>
          <p:cNvSpPr txBox="1">
            <a:spLocks/>
          </p:cNvSpPr>
          <p:nvPr/>
        </p:nvSpPr>
        <p:spPr>
          <a:xfrm>
            <a:off x="6489700" y="3933098"/>
            <a:ext cx="5124450" cy="2004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Gute Lernleistung auf simulierten Daten</a:t>
            </a:r>
          </a:p>
          <a:p>
            <a:r>
              <a:rPr lang="de-DE" dirty="0"/>
              <a:t>Deutliche Modell-Realitäts-Lücke bei Messdaten</a:t>
            </a:r>
          </a:p>
        </p:txBody>
      </p:sp>
    </p:spTree>
    <p:extLst>
      <p:ext uri="{BB962C8B-B14F-4D97-AF65-F5344CB8AC3E}">
        <p14:creationId xmlns:p14="http://schemas.microsoft.com/office/powerpoint/2010/main" val="424883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C6A65-E326-E4C3-A71D-B12A5569C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B38163-1A30-A5BE-5991-04B163E4A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Ergebnisse Training – Ganzer Tag 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3670721-6217-C63C-3D1A-EC54B59CA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1651B-F1FD-46A0-8AD9-AAD61D170A5B}" type="datetime1">
              <a:rPr lang="de-DE" smtClean="0"/>
              <a:t>12.06.2026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6E80BAF-C23F-CD53-87D1-D6D5B6A1A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8E3CA5-F61E-87AB-275F-2C9CE89F6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15</a:t>
            </a:fld>
            <a:endParaRPr lang="de-DE"/>
          </a:p>
        </p:txBody>
      </p:sp>
      <p:graphicFrame>
        <p:nvGraphicFramePr>
          <p:cNvPr id="10" name="Inhaltsplatzhalter 9">
            <a:extLst>
              <a:ext uri="{FF2B5EF4-FFF2-40B4-BE49-F238E27FC236}">
                <a16:creationId xmlns:a16="http://schemas.microsoft.com/office/drawing/2014/main" id="{2FC864D6-CD2A-2BC8-2AF6-1564E96D67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2635984"/>
              </p:ext>
            </p:extLst>
          </p:nvPr>
        </p:nvGraphicFramePr>
        <p:xfrm>
          <a:off x="6750050" y="1617504"/>
          <a:ext cx="5276851" cy="19659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19888">
                  <a:extLst>
                    <a:ext uri="{9D8B030D-6E8A-4147-A177-3AD203B41FA5}">
                      <a16:colId xmlns:a16="http://schemas.microsoft.com/office/drawing/2014/main" val="3602537530"/>
                    </a:ext>
                  </a:extLst>
                </a:gridCol>
                <a:gridCol w="593500">
                  <a:extLst>
                    <a:ext uri="{9D8B030D-6E8A-4147-A177-3AD203B41FA5}">
                      <a16:colId xmlns:a16="http://schemas.microsoft.com/office/drawing/2014/main" val="4175259057"/>
                    </a:ext>
                  </a:extLst>
                </a:gridCol>
                <a:gridCol w="719306">
                  <a:extLst>
                    <a:ext uri="{9D8B030D-6E8A-4147-A177-3AD203B41FA5}">
                      <a16:colId xmlns:a16="http://schemas.microsoft.com/office/drawing/2014/main" val="2685073876"/>
                    </a:ext>
                  </a:extLst>
                </a:gridCol>
                <a:gridCol w="655238">
                  <a:extLst>
                    <a:ext uri="{9D8B030D-6E8A-4147-A177-3AD203B41FA5}">
                      <a16:colId xmlns:a16="http://schemas.microsoft.com/office/drawing/2014/main" val="2779528720"/>
                    </a:ext>
                  </a:extLst>
                </a:gridCol>
                <a:gridCol w="655238">
                  <a:extLst>
                    <a:ext uri="{9D8B030D-6E8A-4147-A177-3AD203B41FA5}">
                      <a16:colId xmlns:a16="http://schemas.microsoft.com/office/drawing/2014/main" val="2279478359"/>
                    </a:ext>
                  </a:extLst>
                </a:gridCol>
                <a:gridCol w="655238">
                  <a:extLst>
                    <a:ext uri="{9D8B030D-6E8A-4147-A177-3AD203B41FA5}">
                      <a16:colId xmlns:a16="http://schemas.microsoft.com/office/drawing/2014/main" val="455258732"/>
                    </a:ext>
                  </a:extLst>
                </a:gridCol>
                <a:gridCol w="628446">
                  <a:extLst>
                    <a:ext uri="{9D8B030D-6E8A-4147-A177-3AD203B41FA5}">
                      <a16:colId xmlns:a16="http://schemas.microsoft.com/office/drawing/2014/main" val="4015307835"/>
                    </a:ext>
                  </a:extLst>
                </a:gridCol>
                <a:gridCol w="649997">
                  <a:extLst>
                    <a:ext uri="{9D8B030D-6E8A-4147-A177-3AD203B41FA5}">
                      <a16:colId xmlns:a16="http://schemas.microsoft.com/office/drawing/2014/main" val="1520906490"/>
                    </a:ext>
                  </a:extLst>
                </a:gridCol>
              </a:tblGrid>
              <a:tr h="4809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effectLst/>
                        </a:rPr>
                        <a:t>Model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Number of Episodes</a:t>
                      </a:r>
                      <a:endParaRPr lang="de-DE" sz="1100" b="1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Errors (&gt;±90min) in %</a:t>
                      </a:r>
                      <a:endParaRPr lang="de-DE" sz="1100" b="1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Within ±10 min</a:t>
                      </a:r>
                      <a:endParaRPr lang="de-DE" sz="1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in %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Within ±20 min</a:t>
                      </a:r>
                      <a:endParaRPr lang="de-DE" sz="1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in %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Within ±30 min</a:t>
                      </a:r>
                      <a:endParaRPr lang="de-DE" sz="1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in %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Mean Offset</a:t>
                      </a:r>
                      <a:endParaRPr lang="de-DE" sz="1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in min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StdDev</a:t>
                      </a:r>
                      <a:endParaRPr lang="de-DE" sz="1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in min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26433068"/>
                  </a:ext>
                </a:extLst>
              </a:tr>
              <a:tr h="160322">
                <a:tc gridSpan="8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effectLst/>
                        </a:rPr>
                        <a:t>Full-day-based episodes: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62018"/>
                  </a:ext>
                </a:extLst>
              </a:tr>
              <a:tr h="1603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50">
                          <a:effectLst/>
                        </a:rPr>
                        <a:t>BCQ - sim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1142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41.08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18.97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29.13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37.11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20.79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33.81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60906574"/>
                  </a:ext>
                </a:extLst>
              </a:tr>
              <a:tr h="1603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50">
                          <a:effectLst/>
                        </a:rPr>
                        <a:t>IQL - sim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1142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12.92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39.32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57.85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69.29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-7.2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28.93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13063954"/>
                  </a:ext>
                </a:extLst>
              </a:tr>
              <a:tr h="1603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50">
                          <a:effectLst/>
                        </a:rPr>
                        <a:t>PLAS - sim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1142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47.31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20.49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30.82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38.53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6.2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33.55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02908204"/>
                  </a:ext>
                </a:extLst>
              </a:tr>
              <a:tr h="1603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50">
                          <a:effectLst/>
                        </a:rPr>
                        <a:t>BCQ - meas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107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89.91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1.1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3.29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4.82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30.66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38.53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8163186"/>
                  </a:ext>
                </a:extLst>
              </a:tr>
              <a:tr h="1603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50">
                          <a:effectLst/>
                        </a:rPr>
                        <a:t>IQL - meas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107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98.9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0.0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0.0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0.0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37.64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63.85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53709403"/>
                  </a:ext>
                </a:extLst>
              </a:tr>
              <a:tr h="1603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50">
                          <a:effectLst/>
                        </a:rPr>
                        <a:t>PLAS - meas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107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99.12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0.0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0.22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0.22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51.69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effectLst/>
                        </a:rPr>
                        <a:t>36.67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52968631"/>
                  </a:ext>
                </a:extLst>
              </a:tr>
            </a:tbl>
          </a:graphicData>
        </a:graphic>
      </p:graphicFrame>
      <p:pic>
        <p:nvPicPr>
          <p:cNvPr id="11" name="Grafik 10">
            <a:extLst>
              <a:ext uri="{FF2B5EF4-FFF2-40B4-BE49-F238E27FC236}">
                <a16:creationId xmlns:a16="http://schemas.microsoft.com/office/drawing/2014/main" id="{F8439442-0F5A-5D1D-299F-1F4FF957C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525" y="1898332"/>
            <a:ext cx="5759450" cy="3683635"/>
          </a:xfrm>
          <a:prstGeom prst="rect">
            <a:avLst/>
          </a:prstGeom>
        </p:spPr>
      </p:pic>
      <p:sp>
        <p:nvSpPr>
          <p:cNvPr id="12" name="Inhaltsplatzhalter 6">
            <a:extLst>
              <a:ext uri="{FF2B5EF4-FFF2-40B4-BE49-F238E27FC236}">
                <a16:creationId xmlns:a16="http://schemas.microsoft.com/office/drawing/2014/main" id="{C7A46F8E-A546-3143-2D12-4DE01A19D6EE}"/>
              </a:ext>
            </a:extLst>
          </p:cNvPr>
          <p:cNvSpPr txBox="1">
            <a:spLocks/>
          </p:cNvSpPr>
          <p:nvPr/>
        </p:nvSpPr>
        <p:spPr>
          <a:xfrm>
            <a:off x="6642100" y="3882298"/>
            <a:ext cx="5124450" cy="2004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Schwächere Lernleistung im Gesamter-Tag-Ansatz</a:t>
            </a:r>
          </a:p>
          <a:p>
            <a:r>
              <a:rPr lang="de-DE" dirty="0"/>
              <a:t>Sehr hohe Fehlerraten bei realer Evaluation</a:t>
            </a:r>
          </a:p>
        </p:txBody>
      </p:sp>
    </p:spTree>
    <p:extLst>
      <p:ext uri="{BB962C8B-B14F-4D97-AF65-F5344CB8AC3E}">
        <p14:creationId xmlns:p14="http://schemas.microsoft.com/office/powerpoint/2010/main" val="40830060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2C6354-F095-0637-84C8-10B7C5CF9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Diskussion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838B5A0-3CF9-B17F-7EB1-E181F37605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de-DE" dirty="0"/>
                  <a:t>Grundsätzliche Möglichkeit einer </a:t>
                </a:r>
                <a:r>
                  <a:rPr lang="de-DE" dirty="0" err="1"/>
                  <a:t>drainbasierten</a:t>
                </a:r>
                <a:r>
                  <a:rPr lang="de-DE" dirty="0"/>
                  <a:t> Bewässerung</a:t>
                </a:r>
              </a:p>
              <a:p>
                <a:pPr lvl="1"/>
                <a:r>
                  <a:rPr lang="de-DE" dirty="0"/>
                  <a:t>unter klar definierten synthetischen Zielbedingungen</a:t>
                </a:r>
              </a:p>
              <a:p>
                <a:endParaRPr lang="de-DE" dirty="0"/>
              </a:p>
              <a:p>
                <a:r>
                  <a:rPr lang="de-DE" dirty="0"/>
                  <a:t>Modellkalibrierung mit Restunsicherheit</a:t>
                </a:r>
              </a:p>
              <a:p>
                <a:pPr lvl="1"/>
                <a:r>
                  <a:rPr lang="de-DE" dirty="0"/>
                  <a:t>Modell bildet die Wasserbedarfsdynamik grundsätzlich ab</a:t>
                </a:r>
              </a:p>
              <a:p>
                <a:pPr lvl="1"/>
                <a:r>
                  <a:rPr lang="de-DE" dirty="0"/>
                  <a:t>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de-DE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de-DE" dirty="0"/>
                  <a:t>-Faktor bündelt mehrere Effekte, z. B. Pflanzenentwicklung, Schnittmaßnahmen und Unterschiede zwischen Modellfläche und realen Substratbeuteln</a:t>
                </a:r>
              </a:p>
              <a:p>
                <a:pPr lvl="1"/>
                <a:r>
                  <a:rPr lang="de-DE" dirty="0"/>
                  <a:t>Mikroklimaunterschiede zwischen Wetterstationen und Tunnelmessstation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838B5A0-3CF9-B17F-7EB1-E181F37605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0F0D329-E8CF-CF51-0904-505A766EC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1651B-F1FD-46A0-8AD9-AAD61D170A5B}" type="datetime1">
              <a:rPr lang="de-DE" smtClean="0"/>
              <a:t>12.06.2026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241FE0A-1A73-155E-A3E8-C340134A9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E8B6B7-6075-3516-8151-DA6E646F3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16676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F4D28-EEA0-FEFC-D473-CD7957770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6FF7D7-184B-F36D-2983-A525202E0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Diskussion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3A7F5A1-86BF-3E51-EFCD-DA2B74358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 err="1"/>
              <a:t>Bewässserungszyklus</a:t>
            </a:r>
            <a:r>
              <a:rPr lang="de-DE" dirty="0"/>
              <a:t>-Episoden funktionieren besser: </a:t>
            </a:r>
          </a:p>
          <a:p>
            <a:pPr lvl="1"/>
            <a:r>
              <a:rPr lang="de-DE" dirty="0" err="1"/>
              <a:t>Reset</a:t>
            </a:r>
            <a:r>
              <a:rPr lang="de-DE" dirty="0"/>
              <a:t> nach jeder Bewässerung reduziert Komplexität und fokussiert auf lokale Entscheidungen</a:t>
            </a:r>
          </a:p>
          <a:p>
            <a:r>
              <a:rPr lang="de-DE" dirty="0"/>
              <a:t>Gesamter-Tag Episoden sind problematisch: </a:t>
            </a:r>
          </a:p>
          <a:p>
            <a:pPr lvl="1"/>
            <a:r>
              <a:rPr lang="de-DE" dirty="0"/>
              <a:t>Fehler und kumulative Variablen bauen sich über den Tag auf</a:t>
            </a:r>
          </a:p>
          <a:p>
            <a:r>
              <a:rPr lang="de-DE" dirty="0"/>
              <a:t>Modell-Realitäts-Lücke bleibt die zentrale Herausforderung: </a:t>
            </a:r>
          </a:p>
          <a:p>
            <a:pPr lvl="1"/>
            <a:r>
              <a:rPr lang="de-DE" dirty="0"/>
              <a:t>Simulationsergebnisse übertragen sich nur eingeschränkt auf reale Messdaten.</a:t>
            </a:r>
          </a:p>
          <a:p>
            <a:pPr lvl="1"/>
            <a:r>
              <a:rPr lang="de-DE" dirty="0"/>
              <a:t>Hauptursachen sind Modellabweichungen, </a:t>
            </a:r>
            <a:r>
              <a:rPr lang="de-DE" dirty="0" err="1"/>
              <a:t>Reward-Mismatch</a:t>
            </a:r>
            <a:r>
              <a:rPr lang="de-DE" dirty="0"/>
              <a:t> und Distribution Shift zwischen synthetischen und realen Daten</a:t>
            </a:r>
          </a:p>
          <a:p>
            <a:pPr lvl="1"/>
            <a:r>
              <a:rPr lang="de-DE" dirty="0"/>
              <a:t>Reale Bewässerungsentscheidungen folgen zusätzlich betrieblichen Heuristiken, technischen Grenzen und Sicherheitsüberlegungen.</a:t>
            </a:r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942283-1725-54EF-7609-346D3CA1A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1651B-F1FD-46A0-8AD9-AAD61D170A5B}" type="datetime1">
              <a:rPr lang="de-DE" smtClean="0"/>
              <a:t>12.06.2026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AE4DFC3-0514-A193-4F49-312AFBE1D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0B345A7-95CE-F029-486B-FB4E4B459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73144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35F78F-3A82-5794-60AF-E17AEF9B8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Ausblick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1755E77-6DFA-42F1-5788-A15FE669C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Größerer realer Datensatz über mehrere Saisons</a:t>
            </a:r>
          </a:p>
          <a:p>
            <a:pPr lvl="1"/>
            <a:r>
              <a:rPr lang="de-DE" dirty="0"/>
              <a:t>Zusätzliche Parameter: EC-Wert, pH-Wert, Substratfeuchte</a:t>
            </a:r>
          </a:p>
          <a:p>
            <a:pPr lvl="1"/>
            <a:r>
              <a:rPr lang="de-DE" dirty="0"/>
              <a:t>Größere Messzelle bzw. Rinnenmessung</a:t>
            </a:r>
          </a:p>
          <a:p>
            <a:pPr lvl="1"/>
            <a:endParaRPr lang="de-DE" dirty="0"/>
          </a:p>
          <a:p>
            <a:r>
              <a:rPr lang="de-DE" dirty="0"/>
              <a:t>Komplexeres Modell zur Abbildung von Tunnel- und Substratdynamik</a:t>
            </a:r>
          </a:p>
          <a:p>
            <a:pPr lvl="1"/>
            <a:r>
              <a:rPr lang="de-DE" dirty="0"/>
              <a:t>Bessere Kalibrierung des Drainage-Modells</a:t>
            </a:r>
          </a:p>
          <a:p>
            <a:pPr lvl="1"/>
            <a:endParaRPr lang="de-DE" dirty="0"/>
          </a:p>
          <a:p>
            <a:r>
              <a:rPr lang="de-DE" dirty="0"/>
              <a:t>Konservative Policy-Validierung</a:t>
            </a:r>
          </a:p>
          <a:p>
            <a:pPr lvl="1"/>
            <a:r>
              <a:rPr lang="de-DE" dirty="0"/>
              <a:t>Shadow-Mode-Test auf einer realen Anlage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F6ABB2-621C-DD51-DFD7-D7CD16F60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1651B-F1FD-46A0-8AD9-AAD61D170A5B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9CF7BB7-55BC-5646-EE6B-A8EC8BE9D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0C6742-5916-43C4-2C41-704AB9B66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74114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999E23-2338-BBAF-0DDD-D6C7583C4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Algorithmen Vergleich</a:t>
            </a:r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4A76A969-01F8-4716-C887-F6380FA2CF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5918" y="1358595"/>
            <a:ext cx="5511196" cy="3680333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10B9F69-2220-80E9-4701-69937351D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1651B-F1FD-46A0-8AD9-AAD61D170A5B}" type="datetime1">
              <a:rPr lang="de-DE" smtClean="0"/>
              <a:t>12.06.2026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C4D2099-4DB2-B279-C163-C83773A43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A3CE6DC-0D83-9244-9631-11F8E1AEF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19</a:t>
            </a:fld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C0C195A-9479-94B6-7217-B6DF906B7A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6511" y="1358595"/>
            <a:ext cx="6455129" cy="4322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757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1040</Words>
  <Application>Microsoft Office PowerPoint</Application>
  <PresentationFormat>Breitbild</PresentationFormat>
  <Paragraphs>324</Paragraphs>
  <Slides>19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19</vt:i4>
      </vt:variant>
    </vt:vector>
  </HeadingPairs>
  <TitlesOfParts>
    <vt:vector size="25" baseType="lpstr">
      <vt:lpstr>Aptos</vt:lpstr>
      <vt:lpstr>Arial</vt:lpstr>
      <vt:lpstr>Calibri</vt:lpstr>
      <vt:lpstr>Calibri Light</vt:lpstr>
      <vt:lpstr>Cambria Math</vt:lpstr>
      <vt:lpstr>Office</vt:lpstr>
      <vt:lpstr>Ein Machine Learning basiertes Bewässerungssystem im geschützten Erdbeer-Anbau</vt:lpstr>
      <vt:lpstr>Agenda</vt:lpstr>
      <vt:lpstr>Motivation</vt:lpstr>
      <vt:lpstr>Projektziel</vt:lpstr>
      <vt:lpstr>Methodik - Datenaufzeichnung </vt:lpstr>
      <vt:lpstr>Methodik - Drain Modell</vt:lpstr>
      <vt:lpstr>Methodik – Drain Modell</vt:lpstr>
      <vt:lpstr>Ergebnisse - Modell</vt:lpstr>
      <vt:lpstr>Drain-Berechnung aus Modell</vt:lpstr>
      <vt:lpstr>Reward</vt:lpstr>
      <vt:lpstr>Training</vt:lpstr>
      <vt:lpstr>Training</vt:lpstr>
      <vt:lpstr>Ergebnisse Training – Beispiel Episoden</vt:lpstr>
      <vt:lpstr>Ergebnisse Training - Bewässerungszyklus </vt:lpstr>
      <vt:lpstr>Ergebnisse Training – Ganzer Tag </vt:lpstr>
      <vt:lpstr>Diskussion</vt:lpstr>
      <vt:lpstr>Diskussion</vt:lpstr>
      <vt:lpstr>Ausblick</vt:lpstr>
      <vt:lpstr>Algorithmen Vergleich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 Machine Learning basiertes Bewässerungssystem im geschützten Erdbeer-Anbau</dc:title>
  <dc:creator>Nils Boehringer</dc:creator>
  <cp:lastModifiedBy>Boehringer, Nils</cp:lastModifiedBy>
  <cp:revision>15</cp:revision>
  <dcterms:created xsi:type="dcterms:W3CDTF">2022-10-13T03:57:49Z</dcterms:created>
  <dcterms:modified xsi:type="dcterms:W3CDTF">2026-06-12T13:01:45Z</dcterms:modified>
</cp:coreProperties>
</file>