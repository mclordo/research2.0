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82" r:id="rId4"/>
    <p:sldId id="269" r:id="rId5"/>
    <p:sldId id="270" r:id="rId6"/>
    <p:sldId id="268" r:id="rId7"/>
    <p:sldId id="271" r:id="rId8"/>
    <p:sldId id="274" r:id="rId9"/>
    <p:sldId id="275" r:id="rId10"/>
    <p:sldId id="272" r:id="rId11"/>
    <p:sldId id="278" r:id="rId12"/>
    <p:sldId id="276" r:id="rId13"/>
    <p:sldId id="281" r:id="rId14"/>
    <p:sldId id="280" r:id="rId15"/>
    <p:sldId id="284" r:id="rId16"/>
    <p:sldId id="283" r:id="rId17"/>
    <p:sldId id="273" r:id="rId18"/>
    <p:sldId id="277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7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2122C-B220-4F58-92AC-CB03A2B05921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6A700-4FA0-4818-BD74-899CA6AF7A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4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ABAC-DE6B-4D61-8D5A-8D0075535459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AA068-BF92-40C0-9326-D6673C824308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398C-A71D-47CC-8010-3AFD1F8806D0}" type="datetime1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63996-DF54-4218-B929-6522D9782500}" type="datetime1">
              <a:rPr lang="de-DE" smtClean="0"/>
              <a:t>11.12.2025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574C-9695-42A5-8F1C-047F275C8A3E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0275-25B9-42C3-B390-76F94EC80C31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4015-1311-463A-94C6-6ECFF7209A7E}" type="datetime1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62F84-34EB-4667-BED8-55E1E577FFF3}" type="datetime1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4100-0209-432A-AB6F-26EC97E255DA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F685-D570-44CB-BB14-614A15D27D57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0BDAA-D95C-4DF7-81FF-D3EEA2CA6C4B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DE1618-97B5-E895-B1FB-F5FD43B1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BEC7-7C91-4A32-AD23-855DCE49B439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E08B8A-2103-7D71-3C61-7BF7733B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4C9A1-7592-C53D-80DC-EB76F57D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DBF7098-8EDB-4516-944A-9630D940D974}" type="datetime1">
              <a:rPr lang="de-DE" smtClean="0"/>
              <a:t>11.12.2025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48485-29AD-9F16-DAA3-6F91AEC1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Bisherigen 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793D1C-B85C-2A86-060F-92BBCF8D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Sehr kleiner Datensatz &lt;500 Episoden/Bewässerungszyklen</a:t>
            </a:r>
          </a:p>
          <a:p>
            <a:pPr lvl="1"/>
            <a:r>
              <a:rPr lang="de-DE" dirty="0"/>
              <a:t>Große Zeitkonstante</a:t>
            </a:r>
          </a:p>
          <a:p>
            <a:r>
              <a:rPr lang="de-DE" dirty="0"/>
              <a:t>Probleme beim Lernen mit </a:t>
            </a:r>
            <a:r>
              <a:rPr lang="de-DE" dirty="0" err="1"/>
              <a:t>tensorflow</a:t>
            </a:r>
            <a:endParaRPr lang="de-DE" dirty="0"/>
          </a:p>
          <a:p>
            <a:pPr lvl="1"/>
            <a:r>
              <a:rPr lang="de-DE" dirty="0"/>
              <a:t>Bibliothek von Pascal Graf</a:t>
            </a:r>
          </a:p>
          <a:p>
            <a:pPr lvl="1"/>
            <a:r>
              <a:rPr lang="de-DE" dirty="0"/>
              <a:t>Schwierigkeiten Anbindung des Datensatzes</a:t>
            </a:r>
          </a:p>
          <a:p>
            <a:endParaRPr lang="de-DE" dirty="0"/>
          </a:p>
          <a:p>
            <a:r>
              <a:rPr lang="de-DE" dirty="0"/>
              <a:t>Lösung andere Paper </a:t>
            </a:r>
          </a:p>
          <a:p>
            <a:pPr lvl="1"/>
            <a:r>
              <a:rPr lang="de-DE" dirty="0"/>
              <a:t>Riesiger Datensatz</a:t>
            </a:r>
          </a:p>
          <a:p>
            <a:pPr lvl="1"/>
            <a:r>
              <a:rPr lang="de-DE" dirty="0"/>
              <a:t>Evaporations-Modell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ABC7A0-7BA8-2A34-5072-18F73F1A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B0D0-11F1-42D5-A24C-0FE05889D7FC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A360EA-55D7-392B-4949-1923B291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1F3D64-F1FE-FA8A-2C92-32784B6F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00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90EDD-EB59-D7CD-CF66-ABE42541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Wasserverbrauchs Modell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FA16AF-10D3-E927-F00E-04F00141C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Evapotranspiration (Verdunstung + Verbrauch der Pflanze)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𝐸𝑇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𝑔𝑟𝑒𝑒𝑛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de-DE" dirty="0"/>
              </a:p>
              <a:p>
                <a:pPr lvl="2"/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𝑔𝑟𝑒𝑒𝑛</m:t>
                        </m:r>
                      </m:sub>
                    </m:sSub>
                  </m:oMath>
                </a14:m>
                <a:r>
                  <a:rPr lang="de-DE" dirty="0"/>
                  <a:t> : Referenz Verdunstung von Gras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𝑔𝑟𝑒𝑒𝑛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∆+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den>
                        </m:f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de-DE" dirty="0" smtClean="0"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−0.3</m:t>
                    </m:r>
                  </m:oMath>
                </a14:m>
                <a:r>
                  <a:rPr lang="de-DE" dirty="0"/>
                  <a:t> [mm/d]</a:t>
                </a:r>
              </a:p>
              <a:p>
                <a:pPr lvl="3"/>
                <a:r>
                  <a:rPr lang="de-DE" dirty="0"/>
                  <a:t>Hauptfaktoren: Datum, Temperatur, Solarstrahlung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DE" dirty="0"/>
                  <a:t> : Erdbeer-Kulturkoeffizient</a:t>
                </a:r>
              </a:p>
              <a:p>
                <a:pPr lvl="2"/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FA16AF-10D3-E927-F00E-04F00141C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2FECDDA-6253-7AC6-1FBA-75EA2E3FF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489" y="4238408"/>
            <a:ext cx="7429021" cy="211560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D6A1B5-2BA6-6712-D0A0-4E4F5108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023E-5E6A-4A07-9FA3-38630949B4D7}" type="datetime1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3F253E-E5EF-4B7D-E3A2-6477CAC7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F74353-613B-2B71-77BD-2E75905F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13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091759B9-7B09-B76B-1F27-E1C8F8D4D4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DE" dirty="0"/>
                  <a:t> - Betrachtung Stellagen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091759B9-7B09-B76B-1F27-E1C8F8D4D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93F01D0-86B3-1566-1277-8A64AEF01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8281" y="2486965"/>
            <a:ext cx="4238085" cy="22353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9483E85-103B-EC5D-C58B-B81D67A3F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81" y="2204173"/>
            <a:ext cx="5500083" cy="2888672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9C32747-E869-B75A-B58A-769422696E8D}"/>
              </a:ext>
            </a:extLst>
          </p:cNvPr>
          <p:cNvSpPr/>
          <p:nvPr/>
        </p:nvSpPr>
        <p:spPr>
          <a:xfrm>
            <a:off x="5479473" y="3429000"/>
            <a:ext cx="519547" cy="15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2A4BF0F-A399-AC08-EBF3-42B6F99C6920}"/>
              </a:ext>
            </a:extLst>
          </p:cNvPr>
          <p:cNvSpPr txBox="1">
            <a:spLocks/>
          </p:cNvSpPr>
          <p:nvPr/>
        </p:nvSpPr>
        <p:spPr>
          <a:xfrm>
            <a:off x="914400" y="5092845"/>
            <a:ext cx="10439399" cy="1084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Ertragsbedingter Wasserverbrauch</a:t>
            </a:r>
          </a:p>
          <a:p>
            <a:pPr lvl="1"/>
            <a:r>
              <a:rPr lang="de-DE" dirty="0"/>
              <a:t>3 Ertrags Zyklen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C918A8-4512-68B6-5A2D-E44671B7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5A53-6B6B-48CC-912D-F9100B58803A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A07BE5-992C-BD30-EC3B-BAA6497A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4B984-E287-A333-0531-E13096AF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96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Messdaten für Modell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CE22FFF-4D82-46E0-BE60-D500090A24EB}" type="datetime1">
              <a:rPr lang="de-DE" smtClean="0"/>
              <a:t>11.12.2025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2AF2AF8D-5CCF-58A2-8E86-33FC3DAA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954" y="3507205"/>
            <a:ext cx="10228846" cy="2669758"/>
          </a:xfrm>
        </p:spPr>
        <p:txBody>
          <a:bodyPr/>
          <a:lstStyle/>
          <a:p>
            <a:r>
              <a:rPr lang="de-DE" dirty="0"/>
              <a:t>3 Messtationen (umliegend zu ursprünglicher Messtelle)</a:t>
            </a:r>
          </a:p>
          <a:p>
            <a:pPr lvl="1"/>
            <a:r>
              <a:rPr lang="de-DE" dirty="0"/>
              <a:t>Messwerte alle 10min</a:t>
            </a:r>
          </a:p>
          <a:p>
            <a:pPr lvl="1"/>
            <a:r>
              <a:rPr lang="de-DE" dirty="0"/>
              <a:t>Erwartet Nennung in der Veröffentlichung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42FA901-E0B9-8831-A136-C4214635A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0075"/>
            <a:ext cx="457263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F217D-7D89-5863-9E86-8209C787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Modell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1B3804-A9D2-9168-E8C5-0862539B6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24" y="1450751"/>
            <a:ext cx="6483774" cy="267203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D51C30-0CD9-4B4F-8F1C-47F9A307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24" y="4122786"/>
            <a:ext cx="4240947" cy="237008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D7B25A41-4905-DA9E-E9B0-7AC87DCD1FFB}"/>
              </a:ext>
            </a:extLst>
          </p:cNvPr>
          <p:cNvSpPr txBox="1"/>
          <p:nvPr/>
        </p:nvSpPr>
        <p:spPr>
          <a:xfrm>
            <a:off x="5319321" y="46082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Mean Absolute Error (MAE): 3.4308 mm/Messtelle*Tag</a:t>
            </a:r>
          </a:p>
          <a:p>
            <a:r>
              <a:rPr lang="de-DE" dirty="0"/>
              <a:t>Root Mean Square Error (RMSE): 15.5910 mm/Messtelle*Tag</a:t>
            </a:r>
          </a:p>
          <a:p>
            <a:r>
              <a:rPr lang="de-DE" dirty="0"/>
              <a:t>Relative Error: 39.05%</a:t>
            </a:r>
          </a:p>
          <a:p>
            <a:r>
              <a:rPr lang="de-DE" dirty="0"/>
              <a:t>Ratio (Formel/Messung): 0.9209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DE1946-86F8-F002-825F-746890248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F3D6-066E-4935-92CF-D896144B174A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438911-639B-AF27-620A-5A6DFC5D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C0DF59-0A0B-32F2-4227-A9028A6E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95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477AD-A1A0-5C5E-D3E2-DA421DD1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Drain-Berechnung aus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B0F19B-3D91-C3BE-4C81-414D0AF30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werden immer fix 5mm/Messstelle </a:t>
            </a:r>
            <a:r>
              <a:rPr lang="de-DE" dirty="0" err="1"/>
              <a:t>fertigiert</a:t>
            </a:r>
            <a:r>
              <a:rPr lang="de-DE" dirty="0"/>
              <a:t> (Sollmenge)</a:t>
            </a:r>
          </a:p>
          <a:p>
            <a:r>
              <a:rPr lang="de-DE" dirty="0"/>
              <a:t>Drain-Offset wird zufällig zwischen [-0,5; 2,5] gewählt </a:t>
            </a:r>
          </a:p>
          <a:p>
            <a:pPr lvl="1"/>
            <a:r>
              <a:rPr lang="de-DE" dirty="0"/>
              <a:t>ideal Drain sind 20% von 5l -&gt; ideal 1l pro Bewässerungs-Episode</a:t>
            </a:r>
          </a:p>
          <a:p>
            <a:r>
              <a:rPr lang="de-DE" dirty="0"/>
              <a:t>Bestimmung der Episodenlänge</a:t>
            </a:r>
          </a:p>
          <a:p>
            <a:pPr lvl="1"/>
            <a:r>
              <a:rPr lang="de-DE" dirty="0"/>
              <a:t>Episode immer bis zur nächsten Bewässerung</a:t>
            </a:r>
          </a:p>
          <a:p>
            <a:pPr lvl="1"/>
            <a:r>
              <a:rPr lang="de-DE" dirty="0"/>
              <a:t>Episodenende wenn </a:t>
            </a:r>
            <a:r>
              <a:rPr lang="de-DE" dirty="0" err="1"/>
              <a:t>Evapotranspiration</a:t>
            </a:r>
            <a:r>
              <a:rPr lang="de-DE" dirty="0"/>
              <a:t> = Sollmenge + Drain-Offset</a:t>
            </a:r>
          </a:p>
          <a:p>
            <a:pPr lvl="1"/>
            <a:r>
              <a:rPr lang="de-DE" dirty="0"/>
              <a:t>Episode kann egal wann am Tag starten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9A96F-8B7F-0759-46F1-B34AF03E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6B8C-78D6-4922-BA10-ED521FFC8F6A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F39AD8-D654-8EF9-7ACC-996B9A46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F2A4C-9E69-DC3E-0EA4-E424B2C3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24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2ACCF-6EB2-DF2E-9BEB-59931DD5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Reward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04E131D-1DB5-9510-317F-6C19FA850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558" y="1825625"/>
            <a:ext cx="6888955" cy="4351338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E0A3B76-9A67-707B-3C29-25E24FB95923}"/>
              </a:ext>
            </a:extLst>
          </p:cNvPr>
          <p:cNvSpPr txBox="1">
            <a:spLocks/>
          </p:cNvSpPr>
          <p:nvPr/>
        </p:nvSpPr>
        <p:spPr>
          <a:xfrm>
            <a:off x="8388926" y="1825625"/>
            <a:ext cx="29648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Anhängig vom gewählten Drain-Offset</a:t>
            </a:r>
          </a:p>
          <a:p>
            <a:r>
              <a:rPr lang="de-DE" dirty="0"/>
              <a:t>Positiv bei +-10% von Ideal 20% bezogen auf 5l</a:t>
            </a:r>
          </a:p>
          <a:p>
            <a:r>
              <a:rPr lang="de-DE" dirty="0"/>
              <a:t>Fix pro Episode da konstanter Drain-Offset -&gt; konstanter Action Offset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8F19CF-F8E4-AF33-9B56-0CB501E9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D876-292D-448A-B73A-F4F3D951060E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05DFFB-C9BF-27C3-7246-7B0741E3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F21DC0-D8EF-9566-3871-428F4210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8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7BE16-6A47-DADD-73D9-E3FDA599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22AD135-AEC0-8A51-CB65-1C0929ECC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0692"/>
                <a:ext cx="5827295" cy="4692363"/>
              </a:xfrm>
            </p:spPr>
            <p:txBody>
              <a:bodyPr>
                <a:normAutofit fontScale="92500"/>
              </a:bodyPr>
              <a:lstStyle/>
              <a:p>
                <a:r>
                  <a:rPr lang="de-DE" dirty="0"/>
                  <a:t>Observation</a:t>
                </a:r>
              </a:p>
              <a:p>
                <a:endParaRPr lang="de-DE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𝑇𝑎𝑔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𝐽𝑎h𝑟𝑒𝑠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𝐴𝑏𝑠𝑜𝑙𝑢𝑡𝑒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𝑇𝑎𝑔𝑒𝑠𝑧𝑒𝑖𝑡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𝑍𝑒𝑖𝑡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𝑠𝑒𝑖𝑡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𝑑𝑒𝑟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𝑙𝑒𝑡𝑧𝑡𝑒𝑛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𝐵𝑒𝑤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ä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𝑠𝑠𝑒𝑟𝑢𝑛𝑔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𝑇𝑒𝑚𝑝𝑒𝑟𝑎𝑡𝑢𝑟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𝑟𝑒𝑙𝑎𝑡𝑖𝑣𝑒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𝐿𝑢𝑓𝑡𝑓𝑒𝑢𝑐h𝑡𝑖𝑔𝑘𝑒𝑖𝑡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𝑐𝑢𝑚𝑠𝑢𝑚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𝑆𝑜𝑙𝑎𝑟𝑠𝑡𝑟𝑎h𝑙𝑢𝑛𝑔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𝑐𝑢𝑚𝑠𝑢𝑚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𝐷𝑟𝑎𝑖𝑛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de-DE" b="0" dirty="0"/>
              </a:p>
              <a:p>
                <a:pPr lvl="1"/>
                <a:endParaRPr lang="de-DE" b="0" dirty="0"/>
              </a:p>
              <a:p>
                <a:r>
                  <a:rPr lang="de-DE" dirty="0"/>
                  <a:t>Action </a:t>
                </a:r>
              </a:p>
              <a:p>
                <a:pPr lvl="1"/>
                <a:r>
                  <a:rPr lang="de-DE" dirty="0"/>
                  <a:t>Zeit bis zum Episoden Ende (Kontinuierlich)</a:t>
                </a: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22AD135-AEC0-8A51-CB65-1C0929ECC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0692"/>
                <a:ext cx="5827295" cy="4692363"/>
              </a:xfrm>
              <a:blipFill>
                <a:blip r:embed="rId2"/>
                <a:stretch>
                  <a:fillRect l="-1675" t="-1948" r="-3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AB89DE1E-5369-7750-DA85-0E8C6EA5AB13}"/>
              </a:ext>
            </a:extLst>
          </p:cNvPr>
          <p:cNvSpPr txBox="1">
            <a:spLocks/>
          </p:cNvSpPr>
          <p:nvPr/>
        </p:nvSpPr>
        <p:spPr>
          <a:xfrm>
            <a:off x="7031183" y="3158289"/>
            <a:ext cx="4569506" cy="2615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dirty="0"/>
              <a:t>Observation also auch Action werden zwischen ihren Maximalwerten linear normalisiert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33499-6B76-716F-5F97-B5E291B9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15F2-6B38-498D-95D4-346592B59C93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8DE58A-384F-C146-C4BC-6CBE1E0C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198526-1138-440D-E698-7FAB5236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348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0D09B-BEFF-FCA5-4C8C-7C5FFA9C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FC8ED4BC-01D5-4729-A72C-50F411B5D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389" y="1904920"/>
            <a:ext cx="2694919" cy="1267885"/>
          </a:xfrm>
          <a:prstGeom prst="rect">
            <a:avLst/>
          </a:prstGeom>
        </p:spPr>
      </p:pic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77FF9EE-090B-0CC0-ACB7-CC855B0A9F5E}"/>
              </a:ext>
            </a:extLst>
          </p:cNvPr>
          <p:cNvSpPr txBox="1">
            <a:spLocks/>
          </p:cNvSpPr>
          <p:nvPr/>
        </p:nvSpPr>
        <p:spPr>
          <a:xfrm>
            <a:off x="7307249" y="1611175"/>
            <a:ext cx="4467969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Durch Trail and Error Modelle durch probiert</a:t>
            </a:r>
          </a:p>
          <a:p>
            <a:r>
              <a:rPr lang="de-DE" dirty="0"/>
              <a:t>Variation in </a:t>
            </a:r>
            <a:r>
              <a:rPr lang="de-DE" dirty="0" err="1"/>
              <a:t>BatchSize</a:t>
            </a:r>
            <a:r>
              <a:rPr lang="de-DE" dirty="0"/>
              <a:t>, Iterationen, Epochengröße </a:t>
            </a:r>
          </a:p>
          <a:p>
            <a:endParaRPr lang="de-DE" dirty="0"/>
          </a:p>
          <a:p>
            <a:pPr lvl="1"/>
            <a:r>
              <a:rPr lang="de-DE" dirty="0"/>
              <a:t>SAC = absolut gar keinen Erfolg</a:t>
            </a:r>
          </a:p>
          <a:p>
            <a:pPr lvl="1"/>
            <a:r>
              <a:rPr lang="de-DE" dirty="0"/>
              <a:t>CQL = mäßiger Erfolg</a:t>
            </a:r>
          </a:p>
          <a:p>
            <a:pPr lvl="1"/>
            <a:r>
              <a:rPr lang="en-US" dirty="0"/>
              <a:t>Policy in Latent Action Space (</a:t>
            </a:r>
            <a:r>
              <a:rPr lang="de-DE" dirty="0"/>
              <a:t>PLAS) = bisher besten Ergebnisse</a:t>
            </a:r>
          </a:p>
          <a:p>
            <a:endParaRPr lang="de-DE" dirty="0"/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12BF57D2-DB2C-415A-5EBE-BCF7EA2C9C96}"/>
              </a:ext>
            </a:extLst>
          </p:cNvPr>
          <p:cNvSpPr txBox="1">
            <a:spLocks/>
          </p:cNvSpPr>
          <p:nvPr/>
        </p:nvSpPr>
        <p:spPr>
          <a:xfrm>
            <a:off x="1010389" y="3307742"/>
            <a:ext cx="2997068" cy="2409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Implementiert Vielzahl von Algorithmen</a:t>
            </a:r>
          </a:p>
          <a:p>
            <a:r>
              <a:rPr lang="de-DE" sz="2000" dirty="0"/>
              <a:t>Ausführlich dokumentierte API</a:t>
            </a:r>
          </a:p>
          <a:p>
            <a:r>
              <a:rPr lang="de-DE" sz="2000" dirty="0"/>
              <a:t>Aktives Repo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D3A97AA-4692-7B74-8A40-BB62D37F7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240" y="1904920"/>
            <a:ext cx="3322053" cy="4130120"/>
          </a:xfrm>
          <a:prstGeom prst="rect">
            <a:avLst/>
          </a:prstGeom>
        </p:spPr>
      </p:pic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8F559A4A-902D-460C-A41F-F394EA24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3B42-2248-4135-9FFD-B261D77D8A00}" type="datetime1">
              <a:rPr lang="de-DE" smtClean="0"/>
              <a:t>11.12.2025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ED051961-9E4F-F717-8625-13D86AA5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406CA5F-0F1C-43BE-594E-B5DB3DFA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393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BFB719D-4939-ED84-4B4D-40F242069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82" y="1579045"/>
            <a:ext cx="9972675" cy="22764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49BBB7-DD71-D8B6-3D87-9BDA1867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Training CQL - 3240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48CC60E-680A-27FE-63AD-1BB9BB60E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/>
          <a:lstStyle/>
          <a:p>
            <a:r>
              <a:rPr lang="de-DE" dirty="0"/>
              <a:t>Gegenüber Trainings Datenset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Gegenüber eigener Messstation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DF4E045-ECED-B688-6AAA-5F50BAD4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689" y="3962528"/>
            <a:ext cx="9639300" cy="2276475"/>
          </a:xfrm>
          <a:prstGeom prst="rect">
            <a:avLst/>
          </a:prstGeom>
        </p:spPr>
      </p:pic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AC1DB2B2-EE9C-3CD0-E700-444E964F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A193-D50D-4950-BE7A-96F6927B3D94}" type="datetime1">
              <a:rPr lang="de-DE" smtClean="0"/>
              <a:t>11.12.2025</a:t>
            </a:fld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D60E4D3F-3C0C-C4B8-420C-08888BF7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9CE6DE65-D6E7-BE19-705E-A9801CE7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65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CA2C-0CE4-EA7B-7B71-17112ED5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6468272-AB64-E9FC-915D-4EAFCF32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6" y="1653027"/>
            <a:ext cx="9801225" cy="22764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EAC52E0-BEED-596D-39FE-B5169DF4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Training PLAS - 5017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C80EA66-A553-5A6E-7348-D99607024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/>
          <a:lstStyle/>
          <a:p>
            <a:r>
              <a:rPr lang="de-DE" dirty="0"/>
              <a:t>Gegenüber Trainings Datenset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Gegenüber eigener Messstation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A14E5E-8743-9880-A618-0D0595FAA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36" y="4254060"/>
            <a:ext cx="9629775" cy="2276475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F6A74A0-07AD-7319-7967-2C069583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C85D-2819-49FA-BB7A-E29A9DC221CF}" type="datetime1">
              <a:rPr lang="de-DE" smtClean="0"/>
              <a:t>11.12.2025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52DC9F-BD28-4504-376A-BEFE7FF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32F9925-E008-36E1-F1DF-AD2EE142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62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535814-180D-B046-F21A-AAAE3754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Trainings Verlauf - PLAS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601314C-D471-019A-9986-4C396A092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1479" y="4432974"/>
            <a:ext cx="4829501" cy="2425026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01A1AC5D-C244-6DAE-CE2C-0869B55F4A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0BBEE5A-0EBB-D54F-0D03-7521F01A7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442" y="1916350"/>
            <a:ext cx="4865931" cy="241861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AD1EE49-DB5B-36EB-C962-BC3A7DB1629F}"/>
              </a:ext>
            </a:extLst>
          </p:cNvPr>
          <p:cNvSpPr txBox="1"/>
          <p:nvPr/>
        </p:nvSpPr>
        <p:spPr>
          <a:xfrm>
            <a:off x="3689406" y="1370444"/>
            <a:ext cx="142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CQL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5D9E21-2DDB-E3FB-8456-16D90E2BABE1}"/>
              </a:ext>
            </a:extLst>
          </p:cNvPr>
          <p:cNvSpPr txBox="1"/>
          <p:nvPr/>
        </p:nvSpPr>
        <p:spPr>
          <a:xfrm>
            <a:off x="8581827" y="1370444"/>
            <a:ext cx="142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PLAS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A6BD010-B67E-955D-697C-D3D809ADAFC1}"/>
              </a:ext>
            </a:extLst>
          </p:cNvPr>
          <p:cNvSpPr txBox="1"/>
          <p:nvPr/>
        </p:nvSpPr>
        <p:spPr>
          <a:xfrm>
            <a:off x="303476" y="2503268"/>
            <a:ext cx="142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Datensatz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654C137-EACC-B4C7-430D-C4574BD82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479" y="1916350"/>
            <a:ext cx="4816739" cy="241861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EAEA0BFC-9938-DBC7-0DBE-BBCD99FC28C0}"/>
              </a:ext>
            </a:extLst>
          </p:cNvPr>
          <p:cNvSpPr txBox="1"/>
          <p:nvPr/>
        </p:nvSpPr>
        <p:spPr>
          <a:xfrm>
            <a:off x="224079" y="5250221"/>
            <a:ext cx="1429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Eigene</a:t>
            </a:r>
            <a:br>
              <a:rPr lang="de-DE" dirty="0"/>
            </a:br>
            <a:r>
              <a:rPr lang="de-DE" dirty="0"/>
              <a:t>Messstation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961AF9AA-8E01-F78F-5202-36D8F0650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442" y="4439382"/>
            <a:ext cx="4865932" cy="2418618"/>
          </a:xfrm>
          <a:prstGeom prst="rect">
            <a:avLst/>
          </a:prstGeom>
        </p:spPr>
      </p:pic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7DDB0DF7-0919-410F-61A9-3771E4E2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EE52-7C74-4665-8E50-5481A6F518CA}" type="datetime1">
              <a:rPr lang="de-DE" smtClean="0"/>
              <a:t>11.12.2025</a:t>
            </a:fld>
            <a:endParaRPr lang="de-DE"/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03D950AE-FE97-F858-9304-4C206DA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8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99E23-2338-BBAF-0DDD-D6C7583C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Vergleich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A76A969-01F8-4716-C887-F6380FA2C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918" y="1358595"/>
            <a:ext cx="5511196" cy="368033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B9F69-2220-80E9-4701-69937351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D2099-4DB2-B279-C163-C83773A4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CE6DC-0D83-9244-9631-11F8E1A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15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C0C195A-9479-94B6-7217-B6DF906B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511" y="1358595"/>
            <a:ext cx="6455129" cy="43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5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4FC508-CCB0-D597-FDE9-A003F126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 </a:t>
            </a:r>
            <a:r>
              <a:rPr lang="de-DE" dirty="0" err="1"/>
              <a:t>eval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6B4D321-538D-8847-692F-A7BEE65A8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8142" y="1847850"/>
            <a:ext cx="5325658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10B141-203B-8EE2-DDC7-FDBDC47F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651B-F1FD-46A0-8AD9-AAD61D170A5B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3BEA9B-5D4B-4504-EC58-1E6C9680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5A755D-C5E9-7D36-2FC2-4F9CA49E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16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EB11D81-6A45-3D16-6399-04A21871D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59" y="1985093"/>
            <a:ext cx="4620270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B6C83-54AB-5B65-E880-965CF43F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38D239-6DE7-0D26-654F-CC9C9264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Sinvoller</a:t>
            </a:r>
            <a:r>
              <a:rPr lang="de-DE" dirty="0"/>
              <a:t> mehr Episoden mit optimalem Drain Offset oder mehr Ausreißer</a:t>
            </a:r>
          </a:p>
          <a:p>
            <a:r>
              <a:rPr lang="de-DE" dirty="0"/>
              <a:t>Reicht Datensatz von Messtationen (23981 </a:t>
            </a:r>
            <a:r>
              <a:rPr lang="de-DE" dirty="0" err="1"/>
              <a:t>Oberservations</a:t>
            </a:r>
            <a:r>
              <a:rPr lang="de-DE" dirty="0"/>
              <a:t>)</a:t>
            </a:r>
          </a:p>
          <a:p>
            <a:r>
              <a:rPr lang="de-DE" dirty="0"/>
              <a:t>Trainings-Optimierung? (</a:t>
            </a:r>
            <a:r>
              <a:rPr lang="de-DE" dirty="0" err="1"/>
              <a:t>Batch_Size</a:t>
            </a:r>
            <a:r>
              <a:rPr lang="de-DE" dirty="0"/>
              <a:t>, Iterationen, Epochengröße)</a:t>
            </a:r>
          </a:p>
          <a:p>
            <a:r>
              <a:rPr lang="de-DE" dirty="0"/>
              <a:t>Welche Trainings und Modell KPI gibt es/sind sinnvoll.</a:t>
            </a:r>
          </a:p>
          <a:p>
            <a:r>
              <a:rPr lang="de-DE" dirty="0"/>
              <a:t>Weitere Modelle durchprobieren? (Ausschluss Prinzip)</a:t>
            </a:r>
          </a:p>
          <a:p>
            <a:r>
              <a:rPr lang="de-DE" dirty="0"/>
              <a:t>Anderer Ansatz für Episode (gesamter Tag)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981858-4031-9337-8AA2-100D47E32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64" y="188509"/>
            <a:ext cx="2092036" cy="167879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DBD790-3CEF-EB1D-8105-29B6F557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6FCF-3F25-4893-A1A4-F1D89C6E3B2D}" type="datetime1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6D4BFD-12FF-4DE2-8849-24AFFB44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A61572-C143-0A48-97C5-7BE9D148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26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09A7C-B018-E96D-8973-0D78235F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 Paper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3582D5-1335-FA01-6C64-D559B9B9B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Generelles Vorgehen</a:t>
            </a:r>
          </a:p>
          <a:p>
            <a:r>
              <a:rPr lang="de-DE" dirty="0"/>
              <a:t>Paper Vorlage</a:t>
            </a:r>
          </a:p>
          <a:p>
            <a:endParaRPr lang="de-DE" dirty="0"/>
          </a:p>
          <a:p>
            <a:r>
              <a:rPr lang="de-DE" dirty="0"/>
              <a:t>Timing mit Semester-Ende (Ende Februar)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FCAE21-6FF6-3EB0-7E53-E047968E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6E4AE-93E7-4744-A0C5-B22E5E33F6B6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8BEA04-6B9A-EFB4-9544-9385E08C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Ein Machine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90B24A-0ECF-F59E-B5F6-9A412F85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75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Microsoft Office PowerPoint</Application>
  <PresentationFormat>Breitbild</PresentationFormat>
  <Paragraphs>151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Office</vt:lpstr>
      <vt:lpstr>Ein Machine Learning basiertes Bewässerungssystem im geschützten Erdbeer-Anbau</vt:lpstr>
      <vt:lpstr>Projektziel</vt:lpstr>
      <vt:lpstr>Bisherigen Probleme</vt:lpstr>
      <vt:lpstr>Wasserverbrauchs Modell</vt:lpstr>
      <vt:lpstr>K_c - Betrachtung Stellagen</vt:lpstr>
      <vt:lpstr>Messdaten für Modell</vt:lpstr>
      <vt:lpstr>Ergebnisse Modell</vt:lpstr>
      <vt:lpstr>Drain-Berechnung aus Modell</vt:lpstr>
      <vt:lpstr>Reward</vt:lpstr>
      <vt:lpstr>Training</vt:lpstr>
      <vt:lpstr>Training</vt:lpstr>
      <vt:lpstr>Ergebnisse Training CQL - 3240</vt:lpstr>
      <vt:lpstr>Ergebnisse Training PLAS - 5017</vt:lpstr>
      <vt:lpstr>Trainings Verlauf - PLAS</vt:lpstr>
      <vt:lpstr>Algorithmen Vergleich</vt:lpstr>
      <vt:lpstr>Diff eval</vt:lpstr>
      <vt:lpstr>Fragen Training</vt:lpstr>
      <vt:lpstr>Fragen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Boehringer, Nils</cp:lastModifiedBy>
  <cp:revision>11</cp:revision>
  <dcterms:created xsi:type="dcterms:W3CDTF">2022-10-13T03:57:49Z</dcterms:created>
  <dcterms:modified xsi:type="dcterms:W3CDTF">2025-12-11T07:47:22Z</dcterms:modified>
</cp:coreProperties>
</file>