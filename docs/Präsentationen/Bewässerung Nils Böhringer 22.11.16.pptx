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  <p:sldId id="262" r:id="rId5"/>
    <p:sldId id="259" r:id="rId6"/>
    <p:sldId id="263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F88FAE-25FD-9A2F-FDA3-3F66E241B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6101050-111D-9EF5-6345-37278DE81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B21888-197F-5FE0-A437-BAA886FB2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16.11.2022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A475FA-51AC-188D-D1DF-BC5C0D64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82C95F-32C8-8F1D-7791-80F239B29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8676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30E08-FC7C-A0FB-8227-C3364F453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1C22FA-9569-022A-5116-FF64900C3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FACDCA-FEC2-541E-E5A3-CD9FDD9CA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16.11.2022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D26C97-D8E7-9AB0-2F46-BD20CAA7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7CA2DF-D65A-61A8-B375-82C31BFC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793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46EB1C-ECBE-6DC5-3D52-3CF0C0D02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98B53F-46B2-A2A9-AFE0-257442E0B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24F9BE-1F9F-9493-DEC7-0A2D26412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16.11.2022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D9049C-2331-2BC0-22FF-91DED9EE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41DFD2-19C3-843E-34E3-F1909C49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6453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A44443-A923-DBB1-1408-A652FBDAA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4772E6-6E13-E561-EF58-C7C18C00C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8C53BD-2FB9-972D-9D04-5B315CF3A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C72576-AF91-8ABB-0233-9168A1121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16.11.2022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9E2F1CB-5943-982B-D36D-A4BA6F2AD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068C72-E0F2-6B69-C189-8119CE069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8443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A487BF-8C51-537C-8936-E2E7F29DA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C064F5-F32A-B1B0-0449-D2B68A2F1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B4CE91-ECB7-0726-DB9A-9F390F9A8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8DDEC7C-1C33-462B-A4F9-1A548FF97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33CF77E-3AB1-E3CF-79B1-E1CF77C1B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387EA39-037B-BB24-9DAB-4934CB97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16.11.2022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376A6A-22E1-10DF-4DDC-88E2ABD7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F15F3AC-E465-A50A-F219-AA0CB47E9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4119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2F36A9-BFE5-27A4-96DE-2BAB910A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7AD8C0E-9EA7-FA82-A7D1-CCB00E8E0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16.11.2022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C56693-EA35-61FC-D5CB-33FBA780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90F88D0-EB97-BF1F-BB0A-03A623C2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556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A3A5EE4-AA48-2408-D8F3-85C265BA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16.11.2022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BD76DD2-C788-6BC8-5885-F9ABAEE6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159A1B-7C8C-F077-94B6-6FCC25744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4545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EB11B-986A-B128-5A20-C43C0037E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88E5BB-8224-A693-E9B1-FFB290B53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07AA37-745B-701C-FB09-5121CED33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432B1A-A5EC-0249-F32E-2731F159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16.11.2022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8AC52F-3CD8-3A14-E007-B3AFE8AD3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A5FC27-DE4F-9F4A-62FD-D26028DF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465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77299B-234D-44BC-DBBA-D1230947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D300FC7-2079-F991-EEFF-86EF7B7169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2ED1AC-DDF1-414B-122D-2FFBD3A50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9A04B4-02BD-55B1-21E2-F6E7EBD15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16.11.2022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846DD1-34C7-EBAB-0B7C-695E0B69E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1E90D7-E646-5DBE-FAE3-6E64C5924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7792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A5625C-DF05-2FD7-0371-92B8857FE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ABB88F1-A6DA-B4BF-5A3B-9E2F65136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ED2672-EBA6-473F-9D27-36D985F86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16.11.2022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FD58A4-66CD-3D05-E905-D1840039C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855482-8A8E-405F-7DB3-419CA50F9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7162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061B0F9-62D2-E99B-C8E0-EA535738D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5334B5E-C661-D80D-F815-17EC572D1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A18AF6-88F1-D4FA-5CBC-5B90DB03F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16.11.2022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5D5D59-965E-1FD7-161F-4203935E5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91C36F-029B-FC3E-FA29-46A333F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6478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039FBDF-8E86-AED3-3183-EF0A81B02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457C92-F592-BFEA-FD24-5E1A3556F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E293E1-9ECC-4325-962E-AFBB96343B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1F1A1-E683-4AE0-BED5-F2FD613BCC3A}" type="datetimeFigureOut">
              <a:rPr lang="de-DE" smtClean="0"/>
              <a:t>16.11.2022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BABC50-2E0B-6BE2-9755-C2684FEEC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9F63A5-4F86-60C4-69CD-BB503D846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631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487721-8B38-5C01-7014-034977E4A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725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47A926-9149-A395-6438-A4858C355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928"/>
            <a:ext cx="9144000" cy="1655762"/>
          </a:xfrm>
        </p:spPr>
        <p:txBody>
          <a:bodyPr/>
          <a:lstStyle/>
          <a:p>
            <a:endParaRPr lang="de-DE" dirty="0"/>
          </a:p>
          <a:p>
            <a:r>
              <a:rPr lang="de-DE" dirty="0"/>
              <a:t>Nils Böhringer</a:t>
            </a:r>
          </a:p>
        </p:txBody>
      </p:sp>
    </p:spTree>
    <p:extLst>
      <p:ext uri="{BB962C8B-B14F-4D97-AF65-F5344CB8AC3E}">
        <p14:creationId xmlns:p14="http://schemas.microsoft.com/office/powerpoint/2010/main" val="3039924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Projektziel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de-DE" dirty="0"/>
              <a:t>Implementierung eines </a:t>
            </a:r>
            <a:r>
              <a:rPr lang="de-DE" dirty="0" err="1"/>
              <a:t>Machine</a:t>
            </a:r>
            <a:r>
              <a:rPr lang="de-DE" dirty="0"/>
              <a:t> Learning Algorithmus welcher auf Basis des Drain einer Erdbeer-Substartkultur automatisch die Bewässerungszeiten bestimmt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16.11.2022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2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9BDE27D-7220-0E5E-3B8D-0DA279599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29" y="3429000"/>
            <a:ext cx="2976360" cy="223227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24A3C48-18BE-B349-2A9D-75D7789A9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521" y="3918891"/>
            <a:ext cx="2377552" cy="12524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7B25F19E-927C-DA01-3F1B-1E00DF096B91}"/>
              </a:ext>
            </a:extLst>
          </p:cNvPr>
          <p:cNvSpPr/>
          <p:nvPr/>
        </p:nvSpPr>
        <p:spPr>
          <a:xfrm>
            <a:off x="4506794" y="4475401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A074FC76-6784-7D0D-247C-55B14CD2BEC0}"/>
              </a:ext>
            </a:extLst>
          </p:cNvPr>
          <p:cNvSpPr/>
          <p:nvPr/>
        </p:nvSpPr>
        <p:spPr>
          <a:xfrm>
            <a:off x="4952335" y="410000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/>
              <a:t>LoRa</a:t>
            </a:r>
            <a:r>
              <a:rPr lang="de-DE" dirty="0"/>
              <a:t> Sensor </a:t>
            </a:r>
            <a:r>
              <a:rPr lang="de-DE" dirty="0" err="1"/>
              <a:t>Node</a:t>
            </a:r>
            <a:endParaRPr lang="de-DE" dirty="0"/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14977348-695B-F84C-C10F-B13DDB4D35D1}"/>
              </a:ext>
            </a:extLst>
          </p:cNvPr>
          <p:cNvSpPr/>
          <p:nvPr/>
        </p:nvSpPr>
        <p:spPr>
          <a:xfrm>
            <a:off x="6156387" y="4474798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C63B17CB-A56A-011F-F8C9-73CD2D7ABEA6}"/>
              </a:ext>
            </a:extLst>
          </p:cNvPr>
          <p:cNvSpPr/>
          <p:nvPr/>
        </p:nvSpPr>
        <p:spPr>
          <a:xfrm>
            <a:off x="6601928" y="411147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ML </a:t>
            </a:r>
            <a:r>
              <a:rPr lang="de-DE" dirty="0" err="1"/>
              <a:t>Algorit-hmus</a:t>
            </a:r>
            <a:endParaRPr lang="de-DE" dirty="0"/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31B5C8F8-B7D9-29C1-19F3-D908DD2CF167}"/>
              </a:ext>
            </a:extLst>
          </p:cNvPr>
          <p:cNvSpPr/>
          <p:nvPr/>
        </p:nvSpPr>
        <p:spPr>
          <a:xfrm>
            <a:off x="7805980" y="4480612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0816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Arbeitspakete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16.11.2022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3</a:t>
            </a:fld>
            <a:endParaRPr lang="de-DE"/>
          </a:p>
        </p:txBody>
      </p: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40F6807C-803E-54FB-7361-0E6C391F8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661711"/>
              </p:ext>
            </p:extLst>
          </p:nvPr>
        </p:nvGraphicFramePr>
        <p:xfrm>
          <a:off x="838193" y="2932311"/>
          <a:ext cx="10515615" cy="2137966"/>
        </p:xfrm>
        <a:graphic>
          <a:graphicData uri="http://schemas.openxmlformats.org/drawingml/2006/table">
            <a:tbl>
              <a:tblPr/>
              <a:tblGrid>
                <a:gridCol w="1858178">
                  <a:extLst>
                    <a:ext uri="{9D8B030D-6E8A-4147-A177-3AD203B41FA5}">
                      <a16:colId xmlns:a16="http://schemas.microsoft.com/office/drawing/2014/main" val="157817355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291484271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691060755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794980751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8936963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065986714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204779573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12093858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28875575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619307106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4142890014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33203118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55243387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53475492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458237603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21811538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62328143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413962695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422533160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37151286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866436160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09691852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60831407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48633255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997852066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03563882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87487530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019460280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353732066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913441435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586228314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34660973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59123320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27912868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917803301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34725855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623063497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72095856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71869591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840337411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4084052531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803479271"/>
                    </a:ext>
                  </a:extLst>
                </a:gridCol>
              </a:tblGrid>
              <a:tr h="453987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Arbeitspakete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 Okt.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 Okt.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 Nov.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 Nov.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 Nov.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 Nov.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 Dez.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 Dez.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 Dez.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 Dez.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 Jan.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 Jan.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 Jan.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 Jan.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 Jan.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 Feb.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 Feb.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 Feb.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 Feb.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 Mrz.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 Mrz.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 Mrz.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 Mrz.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 Apr.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 Apr.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 Apr.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 Apr.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Mai.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 Mai.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 Mai.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 Mai.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 Mai.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 Jun.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 Jun.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 Jun.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 Jun.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 Jul.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 Jul.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 Jul.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 Jul.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 Jul.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173716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Integration Wassersensor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254979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Integration EC-Sensor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980540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Einarbeitung Reinforcement Learning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053541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Aufbau/Kauf Gewächshaus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337182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Messungen HHN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43378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Training Modell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 dirty="0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971730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Integration/Validierung Modell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906231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Messungen Betrieb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322786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weiteres Training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195026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weitere Integration/Validierung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148875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Dokumentation/Meetings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673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5507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Fässer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4260" y="2009775"/>
            <a:ext cx="5699539" cy="416718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e-DE" dirty="0"/>
          </a:p>
          <a:p>
            <a:r>
              <a:rPr lang="de-DE" dirty="0">
                <a:solidFill>
                  <a:srgbClr val="0F1111"/>
                </a:solidFill>
                <a:latin typeface="Amazon Ember"/>
              </a:rPr>
              <a:t>IBC 300l </a:t>
            </a:r>
          </a:p>
          <a:p>
            <a:pPr lvl="1"/>
            <a:r>
              <a:rPr lang="de-DE" dirty="0">
                <a:solidFill>
                  <a:srgbClr val="0F1111"/>
                </a:solidFill>
                <a:latin typeface="Amazon Ember"/>
              </a:rPr>
              <a:t>2x 170€ + 120€  = 460€</a:t>
            </a:r>
          </a:p>
          <a:p>
            <a:endParaRPr lang="de-DE" dirty="0">
              <a:solidFill>
                <a:srgbClr val="0F1111"/>
              </a:solidFill>
              <a:latin typeface="Amazon Ember"/>
            </a:endParaRPr>
          </a:p>
          <a:p>
            <a:pPr marL="0" indent="0">
              <a:buNone/>
            </a:pPr>
            <a:endParaRPr lang="de-DE" dirty="0">
              <a:solidFill>
                <a:srgbClr val="0F1111"/>
              </a:solidFill>
              <a:latin typeface="Amazon Ember"/>
            </a:endParaRPr>
          </a:p>
          <a:p>
            <a:pPr marL="0" indent="0">
              <a:buNone/>
            </a:pPr>
            <a:endParaRPr lang="de-DE" dirty="0">
              <a:solidFill>
                <a:srgbClr val="0F1111"/>
              </a:solidFill>
              <a:latin typeface="Amazon Ember"/>
            </a:endParaRPr>
          </a:p>
          <a:p>
            <a:r>
              <a:rPr lang="de-DE" dirty="0"/>
              <a:t>200l Fass</a:t>
            </a:r>
          </a:p>
          <a:p>
            <a:pPr lvl="1"/>
            <a:r>
              <a:rPr lang="de-DE" dirty="0">
                <a:solidFill>
                  <a:srgbClr val="0F1111"/>
                </a:solidFill>
                <a:latin typeface="Amazon Ember"/>
              </a:rPr>
              <a:t>0€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16.11.2022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4</a:t>
            </a:fld>
            <a:endParaRPr lang="de-DE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32D6489-A546-0F40-E5CD-6F230503E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907" y="1690688"/>
            <a:ext cx="2233773" cy="2233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B04A3149-B327-EB41-377A-71BF76A08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690" y="3866867"/>
            <a:ext cx="1888710" cy="2323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0700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LoRa</a:t>
            </a:r>
            <a:r>
              <a:rPr lang="de-DE" dirty="0"/>
              <a:t> Gateway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4260" y="2009775"/>
            <a:ext cx="5699539" cy="416718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e-DE" dirty="0"/>
          </a:p>
          <a:p>
            <a:r>
              <a:rPr lang="de-DE" dirty="0">
                <a:solidFill>
                  <a:srgbClr val="0F1111"/>
                </a:solidFill>
                <a:latin typeface="Amazon Ember"/>
              </a:rPr>
              <a:t>iC880A-SPI </a:t>
            </a:r>
          </a:p>
          <a:p>
            <a:pPr lvl="1"/>
            <a:r>
              <a:rPr lang="de-DE" dirty="0">
                <a:solidFill>
                  <a:srgbClr val="0F1111"/>
                </a:solidFill>
                <a:latin typeface="Amazon Ember"/>
              </a:rPr>
              <a:t>189,21€</a:t>
            </a:r>
          </a:p>
          <a:p>
            <a:endParaRPr lang="de-DE" dirty="0">
              <a:solidFill>
                <a:srgbClr val="0F1111"/>
              </a:solidFill>
              <a:latin typeface="Amazon Ember"/>
            </a:endParaRPr>
          </a:p>
          <a:p>
            <a:pPr marL="0" indent="0">
              <a:buNone/>
            </a:pPr>
            <a:endParaRPr lang="de-DE" dirty="0">
              <a:solidFill>
                <a:srgbClr val="0F1111"/>
              </a:solidFill>
              <a:latin typeface="Amazon Ember"/>
            </a:endParaRPr>
          </a:p>
          <a:p>
            <a:pPr marL="0" indent="0">
              <a:buNone/>
            </a:pPr>
            <a:endParaRPr lang="de-DE" dirty="0">
              <a:solidFill>
                <a:srgbClr val="0F1111"/>
              </a:solidFill>
              <a:latin typeface="Amazon Ember"/>
            </a:endParaRPr>
          </a:p>
          <a:p>
            <a:r>
              <a:rPr lang="de-DE" dirty="0"/>
              <a:t>TBMH100</a:t>
            </a:r>
          </a:p>
          <a:p>
            <a:pPr lvl="1"/>
            <a:r>
              <a:rPr lang="de-DE" dirty="0">
                <a:solidFill>
                  <a:srgbClr val="0F1111"/>
                </a:solidFill>
                <a:latin typeface="Amazon Ember"/>
              </a:rPr>
              <a:t>94,90€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16.11.2022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5</a:t>
            </a:fld>
            <a:endParaRPr lang="de-DE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971024C-2DDB-0259-A18C-126785C76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9794" y="4397876"/>
            <a:ext cx="1051552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C880A-SPI IMST">
            <a:extLst>
              <a:ext uri="{FF2B5EF4-FFF2-40B4-BE49-F238E27FC236}">
                <a16:creationId xmlns:a16="http://schemas.microsoft.com/office/drawing/2014/main" id="{7DFCC71D-5BCD-1257-7FD0-72E8B59C1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137" y="1822069"/>
            <a:ext cx="2409825" cy="240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0322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Kostenplan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16.11.2022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6</a:t>
            </a:fld>
            <a:endParaRPr lang="de-DE"/>
          </a:p>
        </p:txBody>
      </p:sp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1997B68A-78AF-5486-BE3C-6971C5A29D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165934"/>
              </p:ext>
            </p:extLst>
          </p:nvPr>
        </p:nvGraphicFramePr>
        <p:xfrm>
          <a:off x="2368550" y="1762125"/>
          <a:ext cx="7454900" cy="4045743"/>
        </p:xfrm>
        <a:graphic>
          <a:graphicData uri="http://schemas.openxmlformats.org/drawingml/2006/table">
            <a:tbl>
              <a:tblPr/>
              <a:tblGrid>
                <a:gridCol w="5860499">
                  <a:extLst>
                    <a:ext uri="{9D8B030D-6E8A-4147-A177-3AD203B41FA5}">
                      <a16:colId xmlns:a16="http://schemas.microsoft.com/office/drawing/2014/main" val="752430100"/>
                    </a:ext>
                  </a:extLst>
                </a:gridCol>
                <a:gridCol w="1594401">
                  <a:extLst>
                    <a:ext uri="{9D8B030D-6E8A-4147-A177-3AD203B41FA5}">
                      <a16:colId xmlns:a16="http://schemas.microsoft.com/office/drawing/2014/main" val="2676415374"/>
                    </a:ext>
                  </a:extLst>
                </a:gridCol>
              </a:tblGrid>
              <a:tr h="311211">
                <a:tc>
                  <a:txBody>
                    <a:bodyPr/>
                    <a:lstStyle/>
                    <a:p>
                      <a:pPr algn="l" fontAlgn="b"/>
                      <a:r>
                        <a:rPr lang="de-DE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Name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Preis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3694909"/>
                  </a:ext>
                </a:extLst>
              </a:tr>
              <a:tr h="311211">
                <a:tc>
                  <a:txBody>
                    <a:bodyPr/>
                    <a:lstStyle/>
                    <a:p>
                      <a:pPr algn="l" fontAlgn="b"/>
                      <a:r>
                        <a:rPr lang="de-DE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Rasberry Pi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94,13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5745626"/>
                  </a:ext>
                </a:extLst>
              </a:tr>
              <a:tr h="311211">
                <a:tc>
                  <a:txBody>
                    <a:bodyPr/>
                    <a:lstStyle/>
                    <a:p>
                      <a:pPr algn="l" fontAlgn="b"/>
                      <a:r>
                        <a:rPr lang="de-DE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SD-Karte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7197119"/>
                  </a:ext>
                </a:extLst>
              </a:tr>
              <a:tr h="311211">
                <a:tc>
                  <a:txBody>
                    <a:bodyPr/>
                    <a:lstStyle/>
                    <a:p>
                      <a:pPr algn="l" fontAlgn="b"/>
                      <a:r>
                        <a:rPr lang="de-DE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Netzteil Pumpe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13,49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273432"/>
                  </a:ext>
                </a:extLst>
              </a:tr>
              <a:tr h="311211">
                <a:tc>
                  <a:txBody>
                    <a:bodyPr/>
                    <a:lstStyle/>
                    <a:p>
                      <a:pPr algn="l" fontAlgn="b"/>
                      <a:r>
                        <a:rPr lang="de-DE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Netzteil PI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905340"/>
                  </a:ext>
                </a:extLst>
              </a:tr>
              <a:tr h="311211">
                <a:tc>
                  <a:txBody>
                    <a:bodyPr/>
                    <a:lstStyle/>
                    <a:p>
                      <a:pPr algn="l" fontAlgn="b"/>
                      <a:r>
                        <a:rPr lang="de-DE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Pumpe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32,9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8987354"/>
                  </a:ext>
                </a:extLst>
              </a:tr>
              <a:tr h="311211">
                <a:tc>
                  <a:txBody>
                    <a:bodyPr/>
                    <a:lstStyle/>
                    <a:p>
                      <a:pPr algn="l" fontAlgn="b"/>
                      <a:r>
                        <a:rPr lang="de-DE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Gewächshaus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289,95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3443299"/>
                  </a:ext>
                </a:extLst>
              </a:tr>
              <a:tr h="311211">
                <a:tc>
                  <a:txBody>
                    <a:bodyPr/>
                    <a:lstStyle/>
                    <a:p>
                      <a:pPr algn="l" fontAlgn="b"/>
                      <a:r>
                        <a:rPr lang="de-DE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x Regenmesser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497131"/>
                  </a:ext>
                </a:extLst>
              </a:tr>
              <a:tr h="311211">
                <a:tc>
                  <a:txBody>
                    <a:bodyPr/>
                    <a:lstStyle/>
                    <a:p>
                      <a:pPr algn="l" fontAlgn="b"/>
                      <a:r>
                        <a:rPr lang="de-DE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EC-Sensor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43,65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631554"/>
                  </a:ext>
                </a:extLst>
              </a:tr>
              <a:tr h="311211">
                <a:tc>
                  <a:txBody>
                    <a:bodyPr/>
                    <a:lstStyle/>
                    <a:p>
                      <a:pPr algn="l" fontAlgn="b"/>
                      <a:r>
                        <a:rPr lang="de-DE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Licht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573119"/>
                  </a:ext>
                </a:extLst>
              </a:tr>
              <a:tr h="311211">
                <a:tc>
                  <a:txBody>
                    <a:bodyPr/>
                    <a:lstStyle/>
                    <a:p>
                      <a:pPr algn="l" fontAlgn="b"/>
                      <a:r>
                        <a:rPr lang="de-DE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LoRaWAN Gateway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94,9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200517"/>
                  </a:ext>
                </a:extLst>
              </a:tr>
              <a:tr h="311211">
                <a:tc>
                  <a:txBody>
                    <a:bodyPr/>
                    <a:lstStyle/>
                    <a:p>
                      <a:pPr algn="l" fontAlgn="b"/>
                      <a:r>
                        <a:rPr lang="de-DE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Sensor Node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509870"/>
                  </a:ext>
                </a:extLst>
              </a:tr>
              <a:tr h="311211">
                <a:tc>
                  <a:txBody>
                    <a:bodyPr/>
                    <a:lstStyle/>
                    <a:p>
                      <a:pPr algn="l" fontAlgn="b"/>
                      <a:endParaRPr lang="de-DE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896,52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9140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0955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786</Words>
  <Application>Microsoft Office PowerPoint</Application>
  <PresentationFormat>Breitbild</PresentationFormat>
  <Paragraphs>571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Amazon Ember</vt:lpstr>
      <vt:lpstr>Arial</vt:lpstr>
      <vt:lpstr>Calibri</vt:lpstr>
      <vt:lpstr>Calibri Light</vt:lpstr>
      <vt:lpstr>Office</vt:lpstr>
      <vt:lpstr>Ein Machine Learning basiertes Bewässerungssystem im geschützten Erdbeer-Anbau</vt:lpstr>
      <vt:lpstr>Projektziel</vt:lpstr>
      <vt:lpstr>Arbeitspakete</vt:lpstr>
      <vt:lpstr>Fässer</vt:lpstr>
      <vt:lpstr>LoRa Gateway</vt:lpstr>
      <vt:lpstr>Kostenplan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 Machine Learning basiertes Bewässerungssystem im geschützten Erdbeer-Anbau</dc:title>
  <dc:creator>Nils Boehringer</dc:creator>
  <cp:lastModifiedBy>Nils Böhringer</cp:lastModifiedBy>
  <cp:revision>8</cp:revision>
  <dcterms:created xsi:type="dcterms:W3CDTF">2022-10-13T03:57:49Z</dcterms:created>
  <dcterms:modified xsi:type="dcterms:W3CDTF">2022-11-16T13:50:59Z</dcterms:modified>
</cp:coreProperties>
</file>